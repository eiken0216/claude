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tiktok.com/@saewool/video/7594430675424447762" TargetMode="External"/><Relationship Id="rId2" Type="http://schemas.openxmlformats.org/officeDocument/2006/relationships/hyperlink" Target="https://www.youtube.com/watch?v=etd5Q5Yq8RI" TargetMode="External"/><Relationship Id="rId3" Type="http://schemas.openxmlformats.org/officeDocument/2006/relationships/hyperlink" Target="https://www.tiktok.com/@saewool/video/7480508799699160338" TargetMode="External"/><Relationship Id="rId4" Type="http://schemas.openxmlformats.org/officeDocument/2006/relationships/hyperlink" Target="https://www.youtube.com/watch?v=_phxFISB41M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tiktok.com/@ryudai_a/video/7562880832323456263" TargetMode="External"/><Relationship Id="rId2" Type="http://schemas.openxmlformats.org/officeDocument/2006/relationships/hyperlink" Target="https://www.tiktok.com/@ryudai_a/video/7618798329471765768" TargetMode="External"/><Relationship Id="rId3" Type="http://schemas.openxmlformats.org/officeDocument/2006/relationships/hyperlink" Target="https://www.tiktok.com/@ryudai_a/video/7478622146684620040" TargetMode="External"/><Relationship Id="rId4" Type="http://schemas.openxmlformats.org/officeDocument/2006/relationships/hyperlink" Target="https://www.tiktok.com/@ryudai_a/video/7664980799699127560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tiktok.com/@likekyuuna_s/video/7510958181577657607" TargetMode="External"/><Relationship Id="rId2" Type="http://schemas.openxmlformats.org/officeDocument/2006/relationships/hyperlink" Target="https://www.tiktok.com/@likekyuuna_s/video/7665305778932174087" TargetMode="External"/><Relationship Id="rId3" Type="http://schemas.openxmlformats.org/officeDocument/2006/relationships/hyperlink" Target="https://www.tiktok.com/@likekyuuna_s/video/7666069690829262098" TargetMode="External"/><Relationship Id="rId4" Type="http://schemas.openxmlformats.org/officeDocument/2006/relationships/hyperlink" Target="https://www.tiktok.com/@likekyuuna_s/video/7666779086928334098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eAstqpJPMgA" TargetMode="External"/><Relationship Id="rId2" Type="http://schemas.openxmlformats.org/officeDocument/2006/relationships/hyperlink" Target="https://www.tiktok.com/@vivanzeden_jp/video/7652617742779976981" TargetMode="External"/><Relationship Id="rId3" Type="http://schemas.openxmlformats.org/officeDocument/2006/relationships/hyperlink" Target="https://www.tiktok.com/@shogohamada1229/video/7506809303290940690" TargetMode="External"/><Relationship Id="rId4" Type="http://schemas.openxmlformats.org/officeDocument/2006/relationships/hyperlink" Target="https://www.youtube.com/watch?v=doS0m4KjHQU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737360"/>
            <a:ext cx="5669280" cy="5669280"/>
          </a:xfrm>
          <a:prstGeom prst="ellipse">
            <a:avLst/>
          </a:prstGeom>
          <a:solidFill>
            <a:srgbClr val="2A1F4D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4023360"/>
            <a:ext cx="3108960" cy="3108960"/>
          </a:xfrm>
          <a:prstGeom prst="ellipse">
            <a:avLst/>
          </a:prstGeom>
          <a:solidFill>
            <a:srgbClr val="FF4D6D">
              <a:alpha val="2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23444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4D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アソシエイテッドレコーズ　｜　A&amp;R 新人発表会 提出資料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627632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新人アーティスト プレゼンテーション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548640" y="3035808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A4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最近見つけた新人アーティスト 4組　—　いずれもレーベル未所属、契約が狙える段階です。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397764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4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開催日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651760" y="3977640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2026年7月27日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8640" y="4379976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4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部門 ／ 発表者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651760" y="4379976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SMAR1　／　手塚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48640" y="478231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4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形式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651760" y="4782312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1組5分 × 4組＝20分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518464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4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数値基準日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651760" y="5184648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2026年7月26日 時点の実地取得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464040" y="1737360"/>
            <a:ext cx="2148840" cy="530352"/>
          </a:xfrm>
          <a:prstGeom prst="roundRect">
            <a:avLst>
              <a:gd name="adj" fmla="val 17241"/>
            </a:avLst>
          </a:prstGeom>
          <a:solidFill>
            <a:srgbClr val="271C47"/>
          </a:solidFill>
          <a:ln/>
        </p:spPr>
      </p:sp>
      <p:sp>
        <p:nvSpPr>
          <p:cNvPr id="16" name="Shape 14"/>
          <p:cNvSpPr/>
          <p:nvPr/>
        </p:nvSpPr>
        <p:spPr>
          <a:xfrm>
            <a:off x="9601200" y="1892808"/>
            <a:ext cx="219456" cy="219456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7" name="Text 15"/>
          <p:cNvSpPr/>
          <p:nvPr/>
        </p:nvSpPr>
        <p:spPr>
          <a:xfrm>
            <a:off x="9893808" y="173736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saewool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464040" y="2395728"/>
            <a:ext cx="2148840" cy="530352"/>
          </a:xfrm>
          <a:prstGeom prst="roundRect">
            <a:avLst>
              <a:gd name="adj" fmla="val 17241"/>
            </a:avLst>
          </a:prstGeom>
          <a:solidFill>
            <a:srgbClr val="271C47"/>
          </a:solidFill>
          <a:ln/>
        </p:spPr>
      </p:sp>
      <p:sp>
        <p:nvSpPr>
          <p:cNvPr id="19" name="Shape 17"/>
          <p:cNvSpPr/>
          <p:nvPr/>
        </p:nvSpPr>
        <p:spPr>
          <a:xfrm>
            <a:off x="9601200" y="2551176"/>
            <a:ext cx="219456" cy="219456"/>
          </a:xfrm>
          <a:prstGeom prst="ellipse">
            <a:avLst/>
          </a:prstGeom>
          <a:solidFill>
            <a:srgbClr val="3AB7C9"/>
          </a:solidFill>
          <a:ln/>
        </p:spPr>
      </p:sp>
      <p:sp>
        <p:nvSpPr>
          <p:cNvPr id="20" name="Text 18"/>
          <p:cNvSpPr/>
          <p:nvPr/>
        </p:nvSpPr>
        <p:spPr>
          <a:xfrm>
            <a:off x="9893808" y="2395728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Ryudai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9464040" y="3054096"/>
            <a:ext cx="2148840" cy="530352"/>
          </a:xfrm>
          <a:prstGeom prst="roundRect">
            <a:avLst>
              <a:gd name="adj" fmla="val 17241"/>
            </a:avLst>
          </a:prstGeom>
          <a:solidFill>
            <a:srgbClr val="271C47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0" y="3209544"/>
            <a:ext cx="219456" cy="219456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23" name="Text 21"/>
          <p:cNvSpPr/>
          <p:nvPr/>
        </p:nvSpPr>
        <p:spPr>
          <a:xfrm>
            <a:off x="9893808" y="3054096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yuuna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464040" y="3712464"/>
            <a:ext cx="2148840" cy="530352"/>
          </a:xfrm>
          <a:prstGeom prst="roundRect">
            <a:avLst>
              <a:gd name="adj" fmla="val 17241"/>
            </a:avLst>
          </a:prstGeom>
          <a:solidFill>
            <a:srgbClr val="271C47"/>
          </a:solidFill>
          <a:ln/>
        </p:spPr>
      </p:sp>
      <p:sp>
        <p:nvSpPr>
          <p:cNvPr id="25" name="Shape 23"/>
          <p:cNvSpPr/>
          <p:nvPr/>
        </p:nvSpPr>
        <p:spPr>
          <a:xfrm>
            <a:off x="9601200" y="3867912"/>
            <a:ext cx="219456" cy="219456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6" name="Text 24"/>
          <p:cNvSpPr/>
          <p:nvPr/>
        </p:nvSpPr>
        <p:spPr>
          <a:xfrm>
            <a:off x="9893808" y="3712464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Vivanz Eden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D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4組の位置づけ — 詰まっている場所が全部違う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475488"/>
          </a:xfrm>
          <a:prstGeom prst="rect">
            <a:avLst/>
          </a:prstGeom>
          <a:solidFill>
            <a:srgbClr val="2E2350"/>
          </a:solidFill>
          <a:ln w="9525">
            <a:solidFill>
              <a:srgbClr val="E2E0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463040"/>
            <a:ext cx="356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124712" y="1463040"/>
            <a:ext cx="1956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アーティスト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227832" y="1463040"/>
            <a:ext cx="15453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区分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919472" y="1463040"/>
            <a:ext cx="22311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主要フォロワー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296912" y="1463040"/>
            <a:ext cx="25968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最大到達 ／ DSP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040112" y="1463040"/>
            <a:ext cx="1499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ステータス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1938528"/>
            <a:ext cx="11064240" cy="475488"/>
          </a:xfrm>
          <a:prstGeom prst="rect">
            <a:avLst/>
          </a:prstGeom>
          <a:solidFill>
            <a:srgbClr val="F4F2F8"/>
          </a:solidFill>
          <a:ln w="9525">
            <a:solidFill>
              <a:srgbClr val="E2E0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" y="1938528"/>
            <a:ext cx="356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124712" y="1938528"/>
            <a:ext cx="1956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saewool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27832" y="1938528"/>
            <a:ext cx="15453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弾き語りシンガー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919472" y="1938528"/>
            <a:ext cx="22311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 8.45万 / YT 5.79万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296912" y="1938528"/>
            <a:ext cx="25968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TikTok最大230万 / Spotify月間4,347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040112" y="1938528"/>
            <a:ext cx="1499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未所属（TuneCore）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2414016"/>
            <a:ext cx="11064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0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1792" y="2414016"/>
            <a:ext cx="356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24712" y="2414016"/>
            <a:ext cx="1956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Ryudai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227832" y="2414016"/>
            <a:ext cx="15453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ダンサー・振付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919472" y="2414016"/>
            <a:ext cx="22311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 200万 / IG 13.1万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296912" y="2414016"/>
            <a:ext cx="25968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TikTok最大5,430万 / 音源なし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0040112" y="2414016"/>
            <a:ext cx="1499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未所属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" y="2889504"/>
            <a:ext cx="11064240" cy="475488"/>
          </a:xfrm>
          <a:prstGeom prst="rect">
            <a:avLst/>
          </a:prstGeom>
          <a:solidFill>
            <a:srgbClr val="F4F2F8"/>
          </a:solidFill>
          <a:ln w="9525">
            <a:solidFill>
              <a:srgbClr val="E2E0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1792" y="2889504"/>
            <a:ext cx="356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24712" y="2889504"/>
            <a:ext cx="1956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yuuna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227832" y="2889504"/>
            <a:ext cx="15453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ダンサー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919472" y="2889504"/>
            <a:ext cx="22311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 180万 / IG 46.2万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296912" y="2889504"/>
            <a:ext cx="25968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TikTok最大260万 / 音源なし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040112" y="2889504"/>
            <a:ext cx="1499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未所属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48640" y="3364992"/>
            <a:ext cx="11064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0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1792" y="3364992"/>
            <a:ext cx="356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124712" y="3364992"/>
            <a:ext cx="1956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Vivanz Eden（菊地諒真）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227832" y="3364992"/>
            <a:ext cx="15453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3ピース／Vo本命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919472" y="3364992"/>
            <a:ext cx="22311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 11.98万 / YT 3.75万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296912" y="3364992"/>
            <a:ext cx="25968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Spotify月間14万・葡萄111万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0040112" y="3364992"/>
            <a:ext cx="1499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インディペンデント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48640" y="4041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一言で言うと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48640" y="4407408"/>
            <a:ext cx="2615184" cy="1737360"/>
          </a:xfrm>
          <a:prstGeom prst="roundRect">
            <a:avLst>
              <a:gd name="adj" fmla="val 4211"/>
            </a:avLst>
          </a:prstGeom>
          <a:solidFill>
            <a:srgbClr val="F4F2F8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713232" y="4572000"/>
            <a:ext cx="274320" cy="274320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2" name="Text 40"/>
          <p:cNvSpPr/>
          <p:nvPr/>
        </p:nvSpPr>
        <p:spPr>
          <a:xfrm>
            <a:off x="1060704" y="4553712"/>
            <a:ext cx="1956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saewool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713232" y="495604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リーチはあるがDSPに落ちていない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713232" y="5541264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8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レーベル未所属（TuneCore Japanで自主配信）。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364992" y="4407408"/>
            <a:ext cx="2615184" cy="1737360"/>
          </a:xfrm>
          <a:prstGeom prst="roundRect">
            <a:avLst>
              <a:gd name="adj" fmla="val 4211"/>
            </a:avLst>
          </a:prstGeom>
          <a:solidFill>
            <a:srgbClr val="F4F2F8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3529584" y="4572000"/>
            <a:ext cx="274320" cy="274320"/>
          </a:xfrm>
          <a:prstGeom prst="ellipse">
            <a:avLst/>
          </a:prstGeom>
          <a:solidFill>
            <a:srgbClr val="3AB7C9"/>
          </a:solidFill>
          <a:ln/>
        </p:spPr>
      </p:sp>
      <p:sp>
        <p:nvSpPr>
          <p:cNvPr id="47" name="Text 45"/>
          <p:cNvSpPr/>
          <p:nvPr/>
        </p:nvSpPr>
        <p:spPr>
          <a:xfrm>
            <a:off x="3877056" y="4553712"/>
            <a:ext cx="1956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Ryudai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3529584" y="495604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B7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到達力は完成、音楽資産がゼロ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3529584" y="5541264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8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レーベル未所属（音源リリースなし・ダンサーとして活動）。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181344" y="4407408"/>
            <a:ext cx="2615184" cy="1737360"/>
          </a:xfrm>
          <a:prstGeom prst="roundRect">
            <a:avLst>
              <a:gd name="adj" fmla="val 4211"/>
            </a:avLst>
          </a:prstGeom>
          <a:solidFill>
            <a:srgbClr val="F4F2F8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6345936" y="4572000"/>
            <a:ext cx="274320" cy="27432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52" name="Text 50"/>
          <p:cNvSpPr/>
          <p:nvPr/>
        </p:nvSpPr>
        <p:spPr>
          <a:xfrm>
            <a:off x="6693408" y="4553712"/>
            <a:ext cx="1956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yuuna</a:t>
            </a:r>
            <a:endParaRPr lang="en-US" sz="1250" dirty="0"/>
          </a:p>
        </p:txBody>
      </p:sp>
      <p:sp>
        <p:nvSpPr>
          <p:cNvPr id="53" name="Text 51"/>
          <p:cNvSpPr/>
          <p:nvPr/>
        </p:nvSpPr>
        <p:spPr>
          <a:xfrm>
            <a:off x="6345936" y="495604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ER約22%、出せば必ず聴かれる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6345936" y="5541264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8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レーベル未所属（音源リリースなし・ダンサーとして活動）。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8997696" y="4407408"/>
            <a:ext cx="2615184" cy="1737360"/>
          </a:xfrm>
          <a:prstGeom prst="roundRect">
            <a:avLst>
              <a:gd name="adj" fmla="val 4211"/>
            </a:avLst>
          </a:prstGeom>
          <a:solidFill>
            <a:srgbClr val="F4F2F8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9162288" y="4572000"/>
            <a:ext cx="274320" cy="27432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57" name="Text 55"/>
          <p:cNvSpPr/>
          <p:nvPr/>
        </p:nvSpPr>
        <p:spPr>
          <a:xfrm>
            <a:off x="9509760" y="4553712"/>
            <a:ext cx="1956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Vivanz Eden</a:t>
            </a:r>
            <a:endParaRPr lang="en-US" sz="1250" dirty="0"/>
          </a:p>
        </p:txBody>
      </p:sp>
      <p:sp>
        <p:nvSpPr>
          <p:cNvPr id="58" name="Text 56"/>
          <p:cNvSpPr/>
          <p:nvPr/>
        </p:nvSpPr>
        <p:spPr>
          <a:xfrm>
            <a:off x="9162288" y="495604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実需あり、供給が追いつかない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9162288" y="5541264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8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インディペンデント（レーベル未所属／自主流通・ライブは自力で完売）。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FF4D6D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457200"/>
            <a:ext cx="786384" cy="786384"/>
          </a:xfrm>
          <a:prstGeom prst="ellipse">
            <a:avLst/>
          </a:prstGeom>
          <a:solidFill>
            <a:srgbClr val="FF4D6D"/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457200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554480" y="420624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saewool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54480" y="9875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9A4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セウル　｜　弾き語りシンガー／ソロ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275320" y="512064"/>
            <a:ext cx="3337560" cy="694944"/>
          </a:xfrm>
          <a:prstGeom prst="roundRect">
            <a:avLst>
              <a:gd name="adj" fmla="val 13158"/>
            </a:avLst>
          </a:prstGeom>
          <a:solidFill>
            <a:srgbClr val="271C47"/>
          </a:solidFill>
          <a:ln/>
        </p:spPr>
      </p:sp>
      <p:sp>
        <p:nvSpPr>
          <p:cNvPr id="8" name="Text 6"/>
          <p:cNvSpPr/>
          <p:nvPr/>
        </p:nvSpPr>
        <p:spPr>
          <a:xfrm>
            <a:off x="8458200" y="566928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A4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契約ステータス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458200" y="786384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レーベル未所属（TuneCore Japanで自主配信）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1700784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4D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「再生されるより、「保存」される声。」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548640" y="2468880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DC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韓国発・日本語で刺す弾き語り。2.3M再生の裏に、保存3.5万。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48640" y="2999232"/>
            <a:ext cx="110642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7C3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韓国を拠点に、日本語のJ-POP／ボカロ／アニソンをアコースティック弾き語りでカバーするソロシンガー。カバー1本で100万〜230万再生を複数本持ちながら、レーベル未所属・TuneCoreでの自主流通のまま。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4663440"/>
            <a:ext cx="2615184" cy="1463040"/>
          </a:xfrm>
          <a:prstGeom prst="roundRect">
            <a:avLst>
              <a:gd name="adj" fmla="val 5000"/>
            </a:avLst>
          </a:prstGeom>
          <a:solidFill>
            <a:srgbClr val="271C47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94944" y="4791456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4D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8.45万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694944" y="5340096"/>
            <a:ext cx="23225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9A4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TikTokフォロワー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364992" y="4663440"/>
            <a:ext cx="2615184" cy="1463040"/>
          </a:xfrm>
          <a:prstGeom prst="roundRect">
            <a:avLst>
              <a:gd name="adj" fmla="val 5000"/>
            </a:avLst>
          </a:prstGeom>
          <a:solidFill>
            <a:srgbClr val="271C47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511296" y="4791456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4D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230万</a:t>
            </a:r>
            <a:endParaRPr lang="en-US" sz="2500" dirty="0"/>
          </a:p>
        </p:txBody>
      </p:sp>
      <p:sp>
        <p:nvSpPr>
          <p:cNvPr id="18" name="Text 16"/>
          <p:cNvSpPr/>
          <p:nvPr/>
        </p:nvSpPr>
        <p:spPr>
          <a:xfrm>
            <a:off x="3511296" y="5340096"/>
            <a:ext cx="23225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9A4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最大再生（1本）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81344" y="4663440"/>
            <a:ext cx="2615184" cy="1463040"/>
          </a:xfrm>
          <a:prstGeom prst="roundRect">
            <a:avLst>
              <a:gd name="adj" fmla="val 5000"/>
            </a:avLst>
          </a:prstGeom>
          <a:solidFill>
            <a:srgbClr val="271C47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327648" y="4791456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4D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4,347</a:t>
            </a:r>
            <a:endParaRPr lang="en-US" sz="2500" dirty="0"/>
          </a:p>
        </p:txBody>
      </p:sp>
      <p:sp>
        <p:nvSpPr>
          <p:cNvPr id="21" name="Text 19"/>
          <p:cNvSpPr/>
          <p:nvPr/>
        </p:nvSpPr>
        <p:spPr>
          <a:xfrm>
            <a:off x="6327648" y="5340096"/>
            <a:ext cx="23225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9A4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Spotify月間リスナー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8997696" y="4663440"/>
            <a:ext cx="2615184" cy="1463040"/>
          </a:xfrm>
          <a:prstGeom prst="roundRect">
            <a:avLst>
              <a:gd name="adj" fmla="val 5000"/>
            </a:avLst>
          </a:prstGeom>
          <a:solidFill>
            <a:srgbClr val="271C47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144000" y="4791456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4D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3.1%</a:t>
            </a:r>
            <a:endParaRPr lang="en-US" sz="2500" dirty="0"/>
          </a:p>
        </p:txBody>
      </p:sp>
      <p:sp>
        <p:nvSpPr>
          <p:cNvPr id="24" name="Text 22"/>
          <p:cNvSpPr/>
          <p:nvPr/>
        </p:nvSpPr>
        <p:spPr>
          <a:xfrm>
            <a:off x="9144000" y="5340096"/>
            <a:ext cx="23225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9A4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保存率（1.4M再生／4.3万保存）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D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SAEWOOL —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フォロワー実数と音楽性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029200" cy="402336"/>
          </a:xfrm>
          <a:prstGeom prst="rect">
            <a:avLst/>
          </a:prstGeom>
          <a:solidFill>
            <a:srgbClr val="2E2350"/>
          </a:solidFill>
          <a:ln w="9525">
            <a:solidFill>
              <a:srgbClr val="E2E0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48132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媒体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673352" y="1481328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アカウント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050792" y="1481328"/>
            <a:ext cx="1453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規模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83664"/>
            <a:ext cx="5029200" cy="402336"/>
          </a:xfrm>
          <a:prstGeom prst="rect">
            <a:avLst/>
          </a:prstGeom>
          <a:solidFill>
            <a:srgbClr val="F4F2F8"/>
          </a:solidFill>
          <a:ln w="9525">
            <a:solidFill>
              <a:srgbClr val="E2E0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" y="1883664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673352" y="1883664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@saewool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050792" y="1883664"/>
            <a:ext cx="1453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フォロワー 8.45万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" y="2286000"/>
            <a:ext cx="5029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2E0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" y="2286000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YouTube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673352" y="2286000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@saewool_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050792" y="2286000"/>
            <a:ext cx="1453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登録者 5.79万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48640" y="2688336"/>
            <a:ext cx="5029200" cy="402336"/>
          </a:xfrm>
          <a:prstGeom prst="rect">
            <a:avLst/>
          </a:prstGeom>
          <a:solidFill>
            <a:srgbClr val="F4F2F8"/>
          </a:solidFill>
          <a:ln w="9525">
            <a:solidFill>
              <a:srgbClr val="E2E0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" y="2688336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673352" y="268833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@__saewool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050792" y="2688336"/>
            <a:ext cx="1453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3090672"/>
            <a:ext cx="5029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2E0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" y="3090672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673352" y="3090672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@sae_wool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050792" y="3090672"/>
            <a:ext cx="1453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8640" y="3493008"/>
            <a:ext cx="5029200" cy="402336"/>
          </a:xfrm>
          <a:prstGeom prst="rect">
            <a:avLst/>
          </a:prstGeom>
          <a:solidFill>
            <a:srgbClr val="F4F2F8"/>
          </a:solidFill>
          <a:ln w="9525">
            <a:solidFill>
              <a:srgbClr val="E2E0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792" y="349300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Spotify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673352" y="3493008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saewool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050792" y="3493008"/>
            <a:ext cx="1453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月間リスナー 4,347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48640" y="4151376"/>
            <a:ext cx="5029200" cy="1371600"/>
          </a:xfrm>
          <a:prstGeom prst="roundRect">
            <a:avLst>
              <a:gd name="adj" fmla="val 5333"/>
            </a:avLst>
          </a:prstGeom>
          <a:solidFill>
            <a:srgbClr val="F4F2F8"/>
          </a:solidFill>
          <a:ln/>
        </p:spPr>
      </p:sp>
      <p:sp>
        <p:nvSpPr>
          <p:cNvPr id="29" name="Text 27"/>
          <p:cNvSpPr/>
          <p:nvPr/>
        </p:nvSpPr>
        <p:spPr>
          <a:xfrm>
            <a:off x="713232" y="4279392"/>
            <a:ext cx="4700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68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この規模で注目すべき数字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13232" y="4535424"/>
            <a:ext cx="47000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8.45万　TikTokフォロワー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230万　最大再生（1本）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4,347　Spotify月間リスナー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3.1%　保存率（1.4M再生／4.3万保存）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035040" y="148132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音楽性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035040" y="1847088"/>
            <a:ext cx="5577840" cy="914400"/>
          </a:xfrm>
          <a:prstGeom prst="roundRect">
            <a:avLst>
              <a:gd name="adj" fmla="val 7000"/>
            </a:avLst>
          </a:prstGeom>
          <a:solidFill>
            <a:srgbClr val="F4F2F8"/>
          </a:solidFill>
          <a:ln/>
        </p:spPr>
      </p:sp>
      <p:sp>
        <p:nvSpPr>
          <p:cNvPr id="33" name="Shape 31"/>
          <p:cNvSpPr/>
          <p:nvPr/>
        </p:nvSpPr>
        <p:spPr>
          <a:xfrm>
            <a:off x="6181344" y="1993392"/>
            <a:ext cx="237744" cy="237744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4" name="Text 32"/>
          <p:cNvSpPr/>
          <p:nvPr/>
        </p:nvSpPr>
        <p:spPr>
          <a:xfrm>
            <a:off x="6181344" y="19933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492240" y="1956816"/>
            <a:ext cx="49560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C28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アコースティックギター1本の弾き語り。加工を足さない生声＋生ギターで、原曲のテンポを落として「余白」で聴かせるアレンジが基本形。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035040" y="2871216"/>
            <a:ext cx="5577840" cy="914400"/>
          </a:xfrm>
          <a:prstGeom prst="roundRect">
            <a:avLst>
              <a:gd name="adj" fmla="val 7000"/>
            </a:avLst>
          </a:prstGeom>
          <a:solidFill>
            <a:srgbClr val="F4F2F8"/>
          </a:solidFill>
          <a:ln/>
        </p:spPr>
      </p:sp>
      <p:sp>
        <p:nvSpPr>
          <p:cNvPr id="37" name="Shape 35"/>
          <p:cNvSpPr/>
          <p:nvPr/>
        </p:nvSpPr>
        <p:spPr>
          <a:xfrm>
            <a:off x="6181344" y="3017520"/>
            <a:ext cx="237744" cy="237744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8" name="Text 36"/>
          <p:cNvSpPr/>
          <p:nvPr/>
        </p:nvSpPr>
        <p:spPr>
          <a:xfrm>
            <a:off x="6181344" y="30175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492240" y="2980944"/>
            <a:ext cx="49560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C28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選曲はJ-POP／ボカロ／アニメ・ゲームIP曲が主軸。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035040" y="3895344"/>
            <a:ext cx="5577840" cy="914400"/>
          </a:xfrm>
          <a:prstGeom prst="roundRect">
            <a:avLst>
              <a:gd name="adj" fmla="val 7000"/>
            </a:avLst>
          </a:prstGeom>
          <a:solidFill>
            <a:srgbClr val="F4F2F8"/>
          </a:solidFill>
          <a:ln/>
        </p:spPr>
      </p:sp>
      <p:sp>
        <p:nvSpPr>
          <p:cNvPr id="41" name="Shape 39"/>
          <p:cNvSpPr/>
          <p:nvPr/>
        </p:nvSpPr>
        <p:spPr>
          <a:xfrm>
            <a:off x="6181344" y="4041648"/>
            <a:ext cx="237744" cy="237744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2" name="Text 40"/>
          <p:cNvSpPr/>
          <p:nvPr/>
        </p:nvSpPr>
        <p:spPr>
          <a:xfrm>
            <a:off x="6181344" y="40416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492240" y="4005072"/>
            <a:ext cx="49560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C28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韓国語曲（최유리「숲」、한로로「입춘」）も同じ口調で歌える日韓バイリンガル。ハッシュタグも日/韓/英を併記しており、越境設計が最初から入っている。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035040" y="4919472"/>
            <a:ext cx="5577840" cy="914400"/>
          </a:xfrm>
          <a:prstGeom prst="roundRect">
            <a:avLst>
              <a:gd name="adj" fmla="val 7000"/>
            </a:avLst>
          </a:prstGeom>
          <a:solidFill>
            <a:srgbClr val="F4F2F8"/>
          </a:solidFill>
          <a:ln/>
        </p:spPr>
      </p:sp>
      <p:sp>
        <p:nvSpPr>
          <p:cNvPr id="45" name="Shape 43"/>
          <p:cNvSpPr/>
          <p:nvPr/>
        </p:nvSpPr>
        <p:spPr>
          <a:xfrm>
            <a:off x="6181344" y="5065776"/>
            <a:ext cx="237744" cy="237744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6" name="Text 44"/>
          <p:cNvSpPr/>
          <p:nvPr/>
        </p:nvSpPr>
        <p:spPr>
          <a:xfrm>
            <a:off x="6181344" y="50657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492240" y="5029200"/>
            <a:ext cx="49560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C28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オリジナルはボカロP Aliey:S 提供の「ボトルメール」（saewoolがVocal＋イラスト＋MVを担当）、「あなたの海」、最新作「透過する夏」（2026年7月23日配信）。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D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SAEWOOL —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何が魅力なのか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22392" cy="1298448"/>
          </a:xfrm>
          <a:prstGeom prst="roundRect">
            <a:avLst>
              <a:gd name="adj" fmla="val 5634"/>
            </a:avLst>
          </a:prstGeom>
          <a:solidFill>
            <a:srgbClr val="F4F2F8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55064"/>
            <a:ext cx="310896" cy="310896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55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88720" y="1627632"/>
            <a:ext cx="459943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「保存される」歌声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「I Really Want to Stay at Your House」は140万再生／いいね23.9万／シェア2.63万／保存4.31万（ER 17.1%、保存率3.1%）。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90488" y="1463040"/>
            <a:ext cx="5422392" cy="1298448"/>
          </a:xfrm>
          <a:prstGeom prst="roundRect">
            <a:avLst>
              <a:gd name="adj" fmla="val 5634"/>
            </a:avLst>
          </a:prstGeom>
          <a:solidFill>
            <a:srgbClr val="F4F2F8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373368" y="1655064"/>
            <a:ext cx="310896" cy="310896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0" name="Text 8"/>
          <p:cNvSpPr/>
          <p:nvPr/>
        </p:nvSpPr>
        <p:spPr>
          <a:xfrm>
            <a:off x="6373368" y="1655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30568" y="1627632"/>
            <a:ext cx="459943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100万再生のカバーが単発ではない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 230万／170万／140万、YouTube本編でも163万・148万・101万。当たりが再現している＝運ではなく歌と選曲の力。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980944"/>
            <a:ext cx="5422392" cy="1298448"/>
          </a:xfrm>
          <a:prstGeom prst="roundRect">
            <a:avLst>
              <a:gd name="adj" fmla="val 5634"/>
            </a:avLst>
          </a:prstGeom>
          <a:solidFill>
            <a:srgbClr val="F4F2F8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31520" y="3172968"/>
            <a:ext cx="310896" cy="310896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172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88720" y="3145536"/>
            <a:ext cx="459943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フルセルフプロデュース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ジャケット、イラスト、MVまで本人制作。世界観が既に統一されており、レーベルは“作り直す”のではなく“増幅する”だけで足りる。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90488" y="2980944"/>
            <a:ext cx="5422392" cy="1298448"/>
          </a:xfrm>
          <a:prstGeom prst="roundRect">
            <a:avLst>
              <a:gd name="adj" fmla="val 5634"/>
            </a:avLst>
          </a:prstGeom>
          <a:solidFill>
            <a:srgbClr val="F4F2F8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373368" y="3172968"/>
            <a:ext cx="310896" cy="310896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8" name="Text 16"/>
          <p:cNvSpPr/>
          <p:nvPr/>
        </p:nvSpPr>
        <p:spPr>
          <a:xfrm>
            <a:off x="6373368" y="3172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30568" y="3145536"/>
            <a:ext cx="459943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日韓＋アニメIPの三重の入口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韓国チャンネル／日本語楽曲／アニメ・ゲームIP曲という3方向のリーチを1人で持っている。K-POPでもJ-POPでもない“越境弾き語り”の枠がまだ空いている。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626864"/>
            <a:ext cx="11064240" cy="1481328"/>
          </a:xfrm>
          <a:prstGeom prst="roundRect">
            <a:avLst>
              <a:gd name="adj" fmla="val 4938"/>
            </a:avLst>
          </a:prstGeom>
          <a:solidFill>
            <a:srgbClr val="2E2350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04672" y="4791456"/>
            <a:ext cx="10552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いま起きている“詰まり”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04672" y="5102352"/>
            <a:ext cx="10552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4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Sでは累計1,000万再生超のリーチを持ちながら、Spotify月間リスナーは4,347人・オリジナルMVは2万再生。カバーの巨大リーチが、オリジナルとDSPにまったく落ちていない。ここは本人では解けず、レーベルが入れば確実に動く領域。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D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SAEWOOL — 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ヒットへの手がかり ／ 参考動画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6446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レーベルは何をしたら売れるか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56232"/>
            <a:ext cx="310896" cy="310896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8562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1828800"/>
            <a:ext cx="5989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カバーを「音源」にして導線を閉じる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公式カバーEP（許諾込み）を出し、バズ動画のキャプション／固定コメント／プロフィールリンクをDSPに一本化。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752344"/>
            <a:ext cx="310896" cy="310896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752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2724912"/>
            <a:ext cx="5989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アニメ・ゲームIPタイアップを最優先で当てる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当たった3本すべてがIP曲（進撃の巨人／Cyberpunk／チェンソーマン）。相性は数字で証明済み。ED曲・キャラソン・ゲームOSTの弾き語り枠は競合が薄い。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648456"/>
            <a:ext cx="310896" cy="310896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648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3621024"/>
            <a:ext cx="5989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ボカロP×saewool のコライト体制を常設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「ボトルメール」で機能した Aliey:S 型の座組を月1本ペースに。米津／ヨルシカ／ロクデナシ経由でボカロ文脈から表に出る導線は、日本のリスナー側が既に慣れている。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544568"/>
            <a:ext cx="310896" cy="310896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5445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05840" y="4517136"/>
            <a:ext cx="5989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日韓同時展開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韓国側のチャンネル資産と韓国語カバーがすでにある。日本盤リリースと同時に韓国プレイリスト／韓国語版を出せば、1曲で2市場を取れる。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5440680"/>
            <a:ext cx="310896" cy="310896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5440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05840" y="5413248"/>
            <a:ext cx="5989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“顔と場所”をつくる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現状は手元と声中心。アーティスト写真・縦型ライブ映像・小規模ワンマンを用意して、リスナーが応援対象として認識できる像を早期に立てる。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60920" y="1463040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おすすめ参考動画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360920" y="1828800"/>
            <a:ext cx="4251960" cy="1024128"/>
          </a:xfrm>
          <a:prstGeom prst="roundRect">
            <a:avLst>
              <a:gd name="adj" fmla="val 6250"/>
            </a:avLst>
          </a:prstGeom>
          <a:solidFill>
            <a:srgbClr val="F4F2F8"/>
          </a:solidFill>
          <a:ln/>
        </p:spPr>
      </p:sp>
      <p:sp>
        <p:nvSpPr>
          <p:cNvPr id="22" name="Text 20"/>
          <p:cNvSpPr/>
          <p:nvPr/>
        </p:nvSpPr>
        <p:spPr>
          <a:xfrm>
            <a:off x="7525512" y="1920240"/>
            <a:ext cx="39227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【本命】I Really Want to Stay at Your House（TikTok・140万再生／ER 17.1%・保存4.3万）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i="1" dirty="0">
                <a:solidFill>
                  <a:srgbClr val="6B68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数字が一番きれいな1本。保存とシェアの比率をこの場で見てほしい。</a:t>
            </a:r>
            <a:endParaRPr lang="en-US" sz="1000" dirty="0"/>
          </a:p>
        </p:txBody>
      </p:sp>
      <p:sp>
        <p:nvSpPr>
          <p:cNvPr id="23" name="Text 21">
            <a:hlinkClick r:id="rId1" tooltip="https://www.tiktok.com/@saewool/video/7594430675424447762"/>
          </p:cNvPr>
          <p:cNvSpPr/>
          <p:nvPr/>
        </p:nvSpPr>
        <p:spPr>
          <a:xfrm>
            <a:off x="7525512" y="2615184"/>
            <a:ext cx="3922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u="sng" dirty="0">
                <a:solidFill>
                  <a:srgbClr val="1155CC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www.tiktok.com/@saewool/video/7594430675424447762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動画を開く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7360920" y="2962656"/>
            <a:ext cx="4251960" cy="1024128"/>
          </a:xfrm>
          <a:prstGeom prst="roundRect">
            <a:avLst>
              <a:gd name="adj" fmla="val 6250"/>
            </a:avLst>
          </a:prstGeom>
          <a:solidFill>
            <a:srgbClr val="F4F2F8"/>
          </a:solidFill>
          <a:ln/>
        </p:spPr>
      </p:sp>
      <p:sp>
        <p:nvSpPr>
          <p:cNvPr id="25" name="Text 23"/>
          <p:cNvSpPr/>
          <p:nvPr/>
        </p:nvSpPr>
        <p:spPr>
          <a:xfrm>
            <a:off x="7525512" y="3054096"/>
            <a:ext cx="39227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「JANE DOE」acoustic cover（YouTube・163万再生）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i="1" dirty="0">
                <a:solidFill>
                  <a:srgbClr val="6B68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本編尺でも持つ歌唱力。ショートだけの人ではない証明。</a:t>
            </a:r>
            <a:endParaRPr lang="en-US" sz="1000" dirty="0"/>
          </a:p>
        </p:txBody>
      </p:sp>
      <p:sp>
        <p:nvSpPr>
          <p:cNvPr id="26" name="Text 24">
            <a:hlinkClick r:id="rId2" tooltip="https://www.youtube.com/watch?v=etd5Q5Yq8RI"/>
          </p:cNvPr>
          <p:cNvSpPr/>
          <p:nvPr/>
        </p:nvSpPr>
        <p:spPr>
          <a:xfrm>
            <a:off x="7525512" y="3749040"/>
            <a:ext cx="3922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u="sng" dirty="0">
                <a:solidFill>
                  <a:srgbClr val="1155CC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www.youtube.com/watch?v=etd5Q5Yq8R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動画を開く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360920" y="4096512"/>
            <a:ext cx="4251960" cy="1024128"/>
          </a:xfrm>
          <a:prstGeom prst="roundRect">
            <a:avLst>
              <a:gd name="adj" fmla="val 6250"/>
            </a:avLst>
          </a:prstGeom>
          <a:solidFill>
            <a:srgbClr val="F4F2F8"/>
          </a:solidFill>
          <a:ln/>
        </p:spPr>
      </p:sp>
      <p:sp>
        <p:nvSpPr>
          <p:cNvPr id="28" name="Text 26"/>
          <p:cNvSpPr/>
          <p:nvPr/>
        </p:nvSpPr>
        <p:spPr>
          <a:xfrm>
            <a:off x="7525512" y="4187952"/>
            <a:ext cx="39227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of Silence（TikTok・230万再生／保存3.5万）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i="1" dirty="0">
                <a:solidFill>
                  <a:srgbClr val="6B68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最大バズ。アニメIPとの相性。</a:t>
            </a:r>
            <a:endParaRPr lang="en-US" sz="1000" dirty="0"/>
          </a:p>
        </p:txBody>
      </p:sp>
      <p:sp>
        <p:nvSpPr>
          <p:cNvPr id="29" name="Text 27">
            <a:hlinkClick r:id="rId3" tooltip="https://www.tiktok.com/@saewool/video/7480508799699160338"/>
          </p:cNvPr>
          <p:cNvSpPr/>
          <p:nvPr/>
        </p:nvSpPr>
        <p:spPr>
          <a:xfrm>
            <a:off x="7525512" y="4882896"/>
            <a:ext cx="3922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u="sng" dirty="0">
                <a:solidFill>
                  <a:srgbClr val="1155CC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https://www.tiktok.com/@saewool/video/7480508799699160338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動画を開く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360920" y="5230368"/>
            <a:ext cx="4251960" cy="1024128"/>
          </a:xfrm>
          <a:prstGeom prst="roundRect">
            <a:avLst>
              <a:gd name="adj" fmla="val 6250"/>
            </a:avLst>
          </a:prstGeom>
          <a:solidFill>
            <a:srgbClr val="F4F2F8"/>
          </a:solidFill>
          <a:ln/>
        </p:spPr>
      </p:sp>
      <p:sp>
        <p:nvSpPr>
          <p:cNvPr id="31" name="Text 29"/>
          <p:cNvSpPr/>
          <p:nvPr/>
        </p:nvSpPr>
        <p:spPr>
          <a:xfrm>
            <a:off x="7525512" y="5321808"/>
            <a:ext cx="39227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「ボトルメール」Music Video（YouTube・オリジナル）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i="1" dirty="0">
                <a:solidFill>
                  <a:srgbClr val="6B68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オリジナルは2万再生。ここが我々の仕事の余地。</a:t>
            </a:r>
            <a:endParaRPr lang="en-US" sz="1000" dirty="0"/>
          </a:p>
        </p:txBody>
      </p:sp>
      <p:sp>
        <p:nvSpPr>
          <p:cNvPr id="32" name="Text 30">
            <a:hlinkClick r:id="rId4" tooltip="https://www.youtube.com/watch?v=_phxFISB41M"/>
          </p:cNvPr>
          <p:cNvSpPr/>
          <p:nvPr/>
        </p:nvSpPr>
        <p:spPr>
          <a:xfrm>
            <a:off x="7525512" y="6016752"/>
            <a:ext cx="3922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u="sng" dirty="0">
                <a:solidFill>
                  <a:srgbClr val="1155CC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https://www.youtube.com/watch?v=_phxFISB41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動画を開く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48640" y="6272784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留意点：本人が韓国在住のため、契約・活動体制は韓国側のスキームを含めた確認が必要。オリジナル「ボトルメール」は他者（Aliey:S）作曲＝原盤／出版の整理を先に。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3AB7C9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457200"/>
            <a:ext cx="786384" cy="786384"/>
          </a:xfrm>
          <a:prstGeom prst="ellipse">
            <a:avLst/>
          </a:prstGeom>
          <a:solidFill>
            <a:srgbClr val="3AB7C9"/>
          </a:solidFill>
          <a:ln w="12700">
            <a:solidFill>
              <a:srgbClr val="3AB7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457200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554480" y="420624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Ryudai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54480" y="9875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9A4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リュウダイ／青木龍大　｜　ダンサー・振付／ソロ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275320" y="512064"/>
            <a:ext cx="3337560" cy="694944"/>
          </a:xfrm>
          <a:prstGeom prst="roundRect">
            <a:avLst>
              <a:gd name="adj" fmla="val 13158"/>
            </a:avLst>
          </a:prstGeom>
          <a:solidFill>
            <a:srgbClr val="271C47"/>
          </a:solidFill>
          <a:ln/>
        </p:spPr>
      </p:sp>
      <p:sp>
        <p:nvSpPr>
          <p:cNvPr id="8" name="Text 6"/>
          <p:cNvSpPr/>
          <p:nvPr/>
        </p:nvSpPr>
        <p:spPr>
          <a:xfrm>
            <a:off x="8458200" y="566928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A4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契約ステータス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458200" y="786384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レーベル未所属（音源リリースなし・ダンサーとして活動）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1700784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AB7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「1本で5,430万再生。日本発、世界が真似する側。」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548640" y="2468880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DC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 200万フォロワー。2年で到達、いまも毎日50万再生が立つ。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48640" y="2999232"/>
            <a:ext cx="110642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7C3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日韓ハーフのダンサー／振付師。2024年3月開設のTikTokで2026年7月に200万フォロワー到達、総いいね1億3,350万。最大再生は1本で5,430万。K-POP勢（CORTIS）や edhiii boi・千葉雄喜の楽曲でのコンテンツを持ち、音源を“当てる側”として完成している。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4663440"/>
            <a:ext cx="2615184" cy="1463040"/>
          </a:xfrm>
          <a:prstGeom prst="roundRect">
            <a:avLst>
              <a:gd name="adj" fmla="val 5000"/>
            </a:avLst>
          </a:prstGeom>
          <a:solidFill>
            <a:srgbClr val="271C47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94944" y="4791456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AB7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200万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694944" y="5340096"/>
            <a:ext cx="23225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9A4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TikTokフォロワー（2026/7/21到達）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364992" y="4663440"/>
            <a:ext cx="2615184" cy="1463040"/>
          </a:xfrm>
          <a:prstGeom prst="roundRect">
            <a:avLst>
              <a:gd name="adj" fmla="val 5000"/>
            </a:avLst>
          </a:prstGeom>
          <a:solidFill>
            <a:srgbClr val="271C47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511296" y="4791456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AB7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5,430万</a:t>
            </a:r>
            <a:endParaRPr lang="en-US" sz="2500" dirty="0"/>
          </a:p>
        </p:txBody>
      </p:sp>
      <p:sp>
        <p:nvSpPr>
          <p:cNvPr id="18" name="Text 16"/>
          <p:cNvSpPr/>
          <p:nvPr/>
        </p:nvSpPr>
        <p:spPr>
          <a:xfrm>
            <a:off x="3511296" y="5340096"/>
            <a:ext cx="23225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9A4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最大再生（1本）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81344" y="4663440"/>
            <a:ext cx="2615184" cy="1463040"/>
          </a:xfrm>
          <a:prstGeom prst="roundRect">
            <a:avLst>
              <a:gd name="adj" fmla="val 5000"/>
            </a:avLst>
          </a:prstGeom>
          <a:solidFill>
            <a:srgbClr val="271C47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327648" y="4791456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AB7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1億3,350万</a:t>
            </a:r>
            <a:endParaRPr lang="en-US" sz="2500" dirty="0"/>
          </a:p>
        </p:txBody>
      </p:sp>
      <p:sp>
        <p:nvSpPr>
          <p:cNvPr id="21" name="Text 19"/>
          <p:cNvSpPr/>
          <p:nvPr/>
        </p:nvSpPr>
        <p:spPr>
          <a:xfrm>
            <a:off x="6327648" y="5340096"/>
            <a:ext cx="23225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9A4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総いいね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8997696" y="4663440"/>
            <a:ext cx="2615184" cy="1463040"/>
          </a:xfrm>
          <a:prstGeom prst="roundRect">
            <a:avLst>
              <a:gd name="adj" fmla="val 5000"/>
            </a:avLst>
          </a:prstGeom>
          <a:solidFill>
            <a:srgbClr val="271C47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144000" y="4791456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AB7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13〜18%</a:t>
            </a:r>
            <a:endParaRPr lang="en-US" sz="2500" dirty="0"/>
          </a:p>
        </p:txBody>
      </p:sp>
      <p:sp>
        <p:nvSpPr>
          <p:cNvPr id="24" name="Text 22"/>
          <p:cNvSpPr/>
          <p:nvPr/>
        </p:nvSpPr>
        <p:spPr>
          <a:xfrm>
            <a:off x="9144000" y="5340096"/>
            <a:ext cx="23225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9A4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直近エンゲージ率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AB7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RYUDAI —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フォロワー実数と音楽性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029200" cy="402336"/>
          </a:xfrm>
          <a:prstGeom prst="rect">
            <a:avLst/>
          </a:prstGeom>
          <a:solidFill>
            <a:srgbClr val="2E2350"/>
          </a:solidFill>
          <a:ln w="9525">
            <a:solidFill>
              <a:srgbClr val="E2E0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48132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媒体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673352" y="1481328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アカウント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050792" y="1481328"/>
            <a:ext cx="1453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規模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83664"/>
            <a:ext cx="5029200" cy="402336"/>
          </a:xfrm>
          <a:prstGeom prst="rect">
            <a:avLst/>
          </a:prstGeom>
          <a:solidFill>
            <a:srgbClr val="F4F2F8"/>
          </a:solidFill>
          <a:ln w="9525">
            <a:solidFill>
              <a:srgbClr val="E2E0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" y="1883664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673352" y="1883664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@ryudai_a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050792" y="1883664"/>
            <a:ext cx="1453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AB7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フォロワー 200万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" y="2286000"/>
            <a:ext cx="5029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2E0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" y="2286000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YouTube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673352" y="2286000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@ryudai_a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050792" y="2286000"/>
            <a:ext cx="1453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AB7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登録者 2.73万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48640" y="2688336"/>
            <a:ext cx="5029200" cy="402336"/>
          </a:xfrm>
          <a:prstGeom prst="rect">
            <a:avLst/>
          </a:prstGeom>
          <a:solidFill>
            <a:srgbClr val="F4F2F8"/>
          </a:solidFill>
          <a:ln w="9525">
            <a:solidFill>
              <a:srgbClr val="E2E0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" y="2688336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673352" y="268833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@ryudai_a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050792" y="2688336"/>
            <a:ext cx="1453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AB7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フォロワー 約13.1万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3090672"/>
            <a:ext cx="5029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2E0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" y="3090672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Twitch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673352" y="3090672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ryudai_a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050792" y="3090672"/>
            <a:ext cx="1453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AB7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8640" y="3749040"/>
            <a:ext cx="5029200" cy="1371600"/>
          </a:xfrm>
          <a:prstGeom prst="roundRect">
            <a:avLst>
              <a:gd name="adj" fmla="val 5333"/>
            </a:avLst>
          </a:prstGeom>
          <a:solidFill>
            <a:srgbClr val="F4F2F8"/>
          </a:solidFill>
          <a:ln/>
        </p:spPr>
      </p:sp>
      <p:sp>
        <p:nvSpPr>
          <p:cNvPr id="25" name="Text 23"/>
          <p:cNvSpPr/>
          <p:nvPr/>
        </p:nvSpPr>
        <p:spPr>
          <a:xfrm>
            <a:off x="713232" y="3877056"/>
            <a:ext cx="4700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68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この規模で注目すべき数字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13232" y="4133088"/>
            <a:ext cx="47000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200万　TikTokフォロワー（2026/7/21到達）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5,430万　最大再生（1本）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1億3,350万　総いいね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13〜18%　直近エンゲージ率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035040" y="148132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音楽性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035040" y="1847088"/>
            <a:ext cx="5577840" cy="914400"/>
          </a:xfrm>
          <a:prstGeom prst="roundRect">
            <a:avLst>
              <a:gd name="adj" fmla="val 7000"/>
            </a:avLst>
          </a:prstGeom>
          <a:solidFill>
            <a:srgbClr val="F4F2F8"/>
          </a:solidFill>
          <a:ln/>
        </p:spPr>
      </p:sp>
      <p:sp>
        <p:nvSpPr>
          <p:cNvPr id="29" name="Shape 27"/>
          <p:cNvSpPr/>
          <p:nvPr/>
        </p:nvSpPr>
        <p:spPr>
          <a:xfrm>
            <a:off x="6181344" y="1993392"/>
            <a:ext cx="237744" cy="237744"/>
          </a:xfrm>
          <a:prstGeom prst="ellipse">
            <a:avLst/>
          </a:prstGeom>
          <a:solidFill>
            <a:srgbClr val="3AB7C9"/>
          </a:solidFill>
          <a:ln/>
        </p:spPr>
      </p:sp>
      <p:sp>
        <p:nvSpPr>
          <p:cNvPr id="30" name="Text 28"/>
          <p:cNvSpPr/>
          <p:nvPr/>
        </p:nvSpPr>
        <p:spPr>
          <a:xfrm>
            <a:off x="6181344" y="19933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492240" y="1956816"/>
            <a:ext cx="49560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C28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本人名義の音源リリースはまだ無い。現状の“音楽性”は、どの曲でバズを作れているかで読むのが正しい。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035040" y="2871216"/>
            <a:ext cx="5577840" cy="914400"/>
          </a:xfrm>
          <a:prstGeom prst="roundRect">
            <a:avLst>
              <a:gd name="adj" fmla="val 7000"/>
            </a:avLst>
          </a:prstGeom>
          <a:solidFill>
            <a:srgbClr val="F4F2F8"/>
          </a:solidFill>
          <a:ln/>
        </p:spPr>
      </p:sp>
      <p:sp>
        <p:nvSpPr>
          <p:cNvPr id="33" name="Shape 31"/>
          <p:cNvSpPr/>
          <p:nvPr/>
        </p:nvSpPr>
        <p:spPr>
          <a:xfrm>
            <a:off x="6181344" y="3017520"/>
            <a:ext cx="237744" cy="237744"/>
          </a:xfrm>
          <a:prstGeom prst="ellipse">
            <a:avLst/>
          </a:prstGeom>
          <a:solidFill>
            <a:srgbClr val="3AB7C9"/>
          </a:solidFill>
          <a:ln/>
        </p:spPr>
      </p:sp>
      <p:sp>
        <p:nvSpPr>
          <p:cNvPr id="34" name="Text 32"/>
          <p:cNvSpPr/>
          <p:nvPr/>
        </p:nvSpPr>
        <p:spPr>
          <a:xfrm>
            <a:off x="6181344" y="30175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492240" y="2980944"/>
            <a:ext cx="49560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C28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主戦場はK-POP／ヒップホップ／ファンク。CORTIS「YOUNGCREATORCREW」動画で1,110万再生、edhiii boi「Uiteru」で860万再生、千葉雄喜・JENNIE系のトレンドにも継続的に乗っている。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035040" y="3895344"/>
            <a:ext cx="5577840" cy="914400"/>
          </a:xfrm>
          <a:prstGeom prst="roundRect">
            <a:avLst>
              <a:gd name="adj" fmla="val 7000"/>
            </a:avLst>
          </a:prstGeom>
          <a:solidFill>
            <a:srgbClr val="F4F2F8"/>
          </a:solidFill>
          <a:ln/>
        </p:spPr>
      </p:sp>
      <p:sp>
        <p:nvSpPr>
          <p:cNvPr id="37" name="Shape 35"/>
          <p:cNvSpPr/>
          <p:nvPr/>
        </p:nvSpPr>
        <p:spPr>
          <a:xfrm>
            <a:off x="6181344" y="4041648"/>
            <a:ext cx="237744" cy="237744"/>
          </a:xfrm>
          <a:prstGeom prst="ellipse">
            <a:avLst/>
          </a:prstGeom>
          <a:solidFill>
            <a:srgbClr val="3AB7C9"/>
          </a:solidFill>
          <a:ln/>
        </p:spPr>
      </p:sp>
      <p:sp>
        <p:nvSpPr>
          <p:cNvPr id="38" name="Text 36"/>
          <p:cNvSpPr/>
          <p:nvPr/>
        </p:nvSpPr>
        <p:spPr>
          <a:xfrm>
            <a:off x="6181344" y="40416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492240" y="4005072"/>
            <a:ext cx="49560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C28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直近の使用音源はスペイン語・ポルトガル語・インドネシア語圏のトラックが中心。日本人アカウントだが、回っている音源はほぼ海外＝オーガニックに海外リーチを持っている。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035040" y="4919472"/>
            <a:ext cx="5577840" cy="914400"/>
          </a:xfrm>
          <a:prstGeom prst="roundRect">
            <a:avLst>
              <a:gd name="adj" fmla="val 7000"/>
            </a:avLst>
          </a:prstGeom>
          <a:solidFill>
            <a:srgbClr val="F4F2F8"/>
          </a:solidFill>
          <a:ln/>
        </p:spPr>
      </p:sp>
      <p:sp>
        <p:nvSpPr>
          <p:cNvPr id="41" name="Shape 39"/>
          <p:cNvSpPr/>
          <p:nvPr/>
        </p:nvSpPr>
        <p:spPr>
          <a:xfrm>
            <a:off x="6181344" y="5065776"/>
            <a:ext cx="237744" cy="237744"/>
          </a:xfrm>
          <a:prstGeom prst="ellipse">
            <a:avLst/>
          </a:prstGeom>
          <a:solidFill>
            <a:srgbClr val="3AB7C9"/>
          </a:solidFill>
          <a:ln/>
        </p:spPr>
      </p:sp>
      <p:sp>
        <p:nvSpPr>
          <p:cNvPr id="42" name="Text 40"/>
          <p:cNvSpPr/>
          <p:nvPr/>
        </p:nvSpPr>
        <p:spPr>
          <a:xfrm>
            <a:off x="6181344" y="50657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492240" y="5029200"/>
            <a:ext cx="49560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C28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経歴面ではダンススタジオの講師業、振付、そして iCON Z（LDH）男性部門2次審査合格。オーディション／育成のフローに耐性がある。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AB7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RYUDAI —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何が魅力なのか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22392" cy="1298448"/>
          </a:xfrm>
          <a:prstGeom prst="roundRect">
            <a:avLst>
              <a:gd name="adj" fmla="val 5634"/>
            </a:avLst>
          </a:prstGeom>
          <a:solidFill>
            <a:srgbClr val="F4F2F8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55064"/>
            <a:ext cx="310896" cy="310896"/>
          </a:xfrm>
          <a:prstGeom prst="ellipse">
            <a:avLst/>
          </a:prstGeom>
          <a:solidFill>
            <a:srgbClr val="3AB7C9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55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88720" y="1627632"/>
            <a:ext cx="459943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200万規模でER 13〜18%は異常値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通常この規模は数%まで落ちる。直近30日でも99万／64万／57万／44万と毎日数十万が立っており、“昔バズった人”ではなく現役の稼働資産。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90488" y="1463040"/>
            <a:ext cx="5422392" cy="1298448"/>
          </a:xfrm>
          <a:prstGeom prst="roundRect">
            <a:avLst>
              <a:gd name="adj" fmla="val 5634"/>
            </a:avLst>
          </a:prstGeom>
          <a:solidFill>
            <a:srgbClr val="F4F2F8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373368" y="1655064"/>
            <a:ext cx="310896" cy="310896"/>
          </a:xfrm>
          <a:prstGeom prst="ellipse">
            <a:avLst/>
          </a:prstGeom>
          <a:solidFill>
            <a:srgbClr val="3AB7C9"/>
          </a:solidFill>
          <a:ln/>
        </p:spPr>
      </p:sp>
      <p:sp>
        <p:nvSpPr>
          <p:cNvPr id="10" name="Text 8"/>
          <p:cNvSpPr/>
          <p:nvPr/>
        </p:nvSpPr>
        <p:spPr>
          <a:xfrm>
            <a:off x="6373368" y="1655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30568" y="1627632"/>
            <a:ext cx="459943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海外リーチが本物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5,430万再生の1本は海外クリエイターとの共演。使用音源も海外トラック中心で、日本国内アカウントとしては珍しい構造。日本発でグローバルに出す座組にそのまま乗る。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980944"/>
            <a:ext cx="5422392" cy="1298448"/>
          </a:xfrm>
          <a:prstGeom prst="roundRect">
            <a:avLst>
              <a:gd name="adj" fmla="val 5634"/>
            </a:avLst>
          </a:prstGeom>
          <a:solidFill>
            <a:srgbClr val="F4F2F8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31520" y="3172968"/>
            <a:ext cx="310896" cy="310896"/>
          </a:xfrm>
          <a:prstGeom prst="ellipse">
            <a:avLst/>
          </a:prstGeom>
          <a:solidFill>
            <a:srgbClr val="3AB7C9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172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88720" y="3145536"/>
            <a:ext cx="459943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K-POP文脈で戦える身体と顔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CORTIS との共演が1,110万再生。K-POP側のフォーマットで違和感がなく、日韓ハーフというバックグラウンドも噛み合っている。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90488" y="2980944"/>
            <a:ext cx="5422392" cy="1298448"/>
          </a:xfrm>
          <a:prstGeom prst="roundRect">
            <a:avLst>
              <a:gd name="adj" fmla="val 5634"/>
            </a:avLst>
          </a:prstGeom>
          <a:solidFill>
            <a:srgbClr val="F4F2F8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373368" y="3172968"/>
            <a:ext cx="310896" cy="310896"/>
          </a:xfrm>
          <a:prstGeom prst="ellipse">
            <a:avLst/>
          </a:prstGeom>
          <a:solidFill>
            <a:srgbClr val="3AB7C9"/>
          </a:solidFill>
          <a:ln/>
        </p:spPr>
      </p:sp>
      <p:sp>
        <p:nvSpPr>
          <p:cNvPr id="18" name="Text 16"/>
          <p:cNvSpPr/>
          <p:nvPr/>
        </p:nvSpPr>
        <p:spPr>
          <a:xfrm>
            <a:off x="6373368" y="3172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30568" y="3145536"/>
            <a:ext cx="459943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作る側の技術がある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振付・講師業をしている＝自分のコンテンツを設計できる。アーティスト化した場合、パフォーマンス面の外注コストが低い。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626864"/>
            <a:ext cx="11064240" cy="1481328"/>
          </a:xfrm>
          <a:prstGeom prst="roundRect">
            <a:avLst>
              <a:gd name="adj" fmla="val 4938"/>
            </a:avLst>
          </a:prstGeom>
          <a:solidFill>
            <a:srgbClr val="2E2350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04672" y="4791456"/>
            <a:ext cx="10552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B7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いま起きている“詰まり”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04672" y="5102352"/>
            <a:ext cx="10552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4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リーチは完成しているのに、音楽側の資産がゼロ。TikTok 200万に対しYouTube 2.73万・音源0本＝マネタイズ動線が丸ごと空いている。逆に言えば、我々が最初に音源を持たせられれば、初速の露出は最初から数十万〜数百万で確保できる。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AB7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RYUDAI — 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ヒットへの手がかり ／ 参考動画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6446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レーベルは何をしたら売れるか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56232"/>
            <a:ext cx="310896" cy="310896"/>
          </a:xfrm>
          <a:prstGeom prst="ellipse">
            <a:avLst/>
          </a:prstGeom>
          <a:solidFill>
            <a:srgbClr val="3AB7C9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8562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1828800"/>
            <a:ext cx="5989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まず“楽曲を当てる装置”として関係を作る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アーティスト化の前段として、既存アーティストのタイアップ／プロモ枠で契約。実績と信頼を作りながら、こちらの制作力を見せる。最短で数字が出て、社内稟議も通しやすい。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752344"/>
            <a:ext cx="310896" cy="310896"/>
          </a:xfrm>
          <a:prstGeom prst="ellipse">
            <a:avLst/>
          </a:prstGeom>
          <a:solidFill>
            <a:srgbClr val="3AB7C9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752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2724912"/>
            <a:ext cx="5989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本命はダンス×ボーカルのソロ／ユニット化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iCON Z 2次審査通過という下地がある。ボイストレーニングを入れて、パフォーマンス主導型のソロ、または後述 yuuna を含むユニットとして設計する。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648456"/>
            <a:ext cx="310896" cy="310896"/>
          </a:xfrm>
          <a:prstGeom prst="ellipse">
            <a:avLst/>
          </a:prstGeom>
          <a:solidFill>
            <a:srgbClr val="3AB7C9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648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3621024"/>
            <a:ext cx="5989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海外先行リリース設計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回っている音源が海外トラック＝リスナーの重心が海外。日本語1本に絞らず、英語／韓国語を混ぜた曲でグローバル配信を先に置く。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544568"/>
            <a:ext cx="310896" cy="310896"/>
          </a:xfrm>
          <a:prstGeom prst="ellipse">
            <a:avLst/>
          </a:prstGeom>
          <a:solidFill>
            <a:srgbClr val="3AB7C9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5445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05840" y="4517136"/>
            <a:ext cx="5989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振付クレジットで社内に還流させる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自社アーティストの振付・ダンスディレクションで起用。彼のアカウントが宣伝チャネルとして同時に効くため、1本の発注で2つのリターンがある。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5440680"/>
            <a:ext cx="310896" cy="310896"/>
          </a:xfrm>
          <a:prstGeom prst="ellipse">
            <a:avLst/>
          </a:prstGeom>
          <a:solidFill>
            <a:srgbClr val="3AB7C9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5440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05840" y="5413248"/>
            <a:ext cx="5989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囲い込みを急ぐ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2年で200万・海外案件を自力で取れている段階。他社（特にダンス／グローバル系）が先に動く前提でスピード優先。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60920" y="1463040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おすすめ参考動画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360920" y="1828800"/>
            <a:ext cx="4251960" cy="1024128"/>
          </a:xfrm>
          <a:prstGeom prst="roundRect">
            <a:avLst>
              <a:gd name="adj" fmla="val 6250"/>
            </a:avLst>
          </a:prstGeom>
          <a:solidFill>
            <a:srgbClr val="F4F2F8"/>
          </a:solidFill>
          <a:ln/>
        </p:spPr>
      </p:sp>
      <p:sp>
        <p:nvSpPr>
          <p:cNvPr id="22" name="Text 20"/>
          <p:cNvSpPr/>
          <p:nvPr/>
        </p:nvSpPr>
        <p:spPr>
          <a:xfrm>
            <a:off x="7525512" y="1920240"/>
            <a:ext cx="39227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【本命】5,430万再生の1本（TikTok・いいね620万／保存47.8万）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i="1" dirty="0">
                <a:solidFill>
                  <a:srgbClr val="6B68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到達力の証明。この1本の数字だけで説明が終わる。</a:t>
            </a:r>
            <a:endParaRPr lang="en-US" sz="1000" dirty="0"/>
          </a:p>
        </p:txBody>
      </p:sp>
      <p:sp>
        <p:nvSpPr>
          <p:cNvPr id="23" name="Text 21">
            <a:hlinkClick r:id="rId1" tooltip="https://www.tiktok.com/@ryudai_a/video/7562880832323456263"/>
          </p:cNvPr>
          <p:cNvSpPr/>
          <p:nvPr/>
        </p:nvSpPr>
        <p:spPr>
          <a:xfrm>
            <a:off x="7525512" y="2615184"/>
            <a:ext cx="3922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u="sng" dirty="0">
                <a:solidFill>
                  <a:srgbClr val="1155CC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www.tiktok.com/@ryudai_a/video/7562880832323456263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動画を開く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7360920" y="2962656"/>
            <a:ext cx="4251960" cy="1024128"/>
          </a:xfrm>
          <a:prstGeom prst="roundRect">
            <a:avLst>
              <a:gd name="adj" fmla="val 6250"/>
            </a:avLst>
          </a:prstGeom>
          <a:solidFill>
            <a:srgbClr val="F4F2F8"/>
          </a:solidFill>
          <a:ln/>
        </p:spPr>
      </p:sp>
      <p:sp>
        <p:nvSpPr>
          <p:cNvPr id="25" name="Text 23"/>
          <p:cNvSpPr/>
          <p:nvPr/>
        </p:nvSpPr>
        <p:spPr>
          <a:xfrm>
            <a:off x="7525512" y="3054096"/>
            <a:ext cx="39227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CORTIS との共演（TikTok・1,110万再生／ER 16.2%）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i="1" dirty="0">
                <a:solidFill>
                  <a:srgbClr val="6B68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K-POPフォーマットでの成立。アーティスト化の絵が見える。</a:t>
            </a:r>
            <a:endParaRPr lang="en-US" sz="1000" dirty="0"/>
          </a:p>
        </p:txBody>
      </p:sp>
      <p:sp>
        <p:nvSpPr>
          <p:cNvPr id="26" name="Text 24">
            <a:hlinkClick r:id="rId2" tooltip="https://www.tiktok.com/@ryudai_a/video/7618798329471765768"/>
          </p:cNvPr>
          <p:cNvSpPr/>
          <p:nvPr/>
        </p:nvSpPr>
        <p:spPr>
          <a:xfrm>
            <a:off x="7525512" y="3749040"/>
            <a:ext cx="3922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u="sng" dirty="0">
                <a:solidFill>
                  <a:srgbClr val="1155CC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www.tiktok.com/@ryudai_a/video/7618798329471765768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動画を開く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360920" y="4096512"/>
            <a:ext cx="4251960" cy="1024128"/>
          </a:xfrm>
          <a:prstGeom prst="roundRect">
            <a:avLst>
              <a:gd name="adj" fmla="val 6250"/>
            </a:avLst>
          </a:prstGeom>
          <a:solidFill>
            <a:srgbClr val="F4F2F8"/>
          </a:solidFill>
          <a:ln/>
        </p:spPr>
      </p:sp>
      <p:sp>
        <p:nvSpPr>
          <p:cNvPr id="28" name="Text 26"/>
          <p:cNvSpPr/>
          <p:nvPr/>
        </p:nvSpPr>
        <p:spPr>
          <a:xfrm>
            <a:off x="7525512" y="4187952"/>
            <a:ext cx="39227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edhiii boi「Uiteru」（TikTok・860万再生）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i="1" dirty="0">
                <a:solidFill>
                  <a:srgbClr val="6B68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邦楽アーティスト楽曲を当てた実績＝タイアップ時の期待値。</a:t>
            </a:r>
            <a:endParaRPr lang="en-US" sz="1000" dirty="0"/>
          </a:p>
        </p:txBody>
      </p:sp>
      <p:sp>
        <p:nvSpPr>
          <p:cNvPr id="29" name="Text 27">
            <a:hlinkClick r:id="rId3" tooltip="https://www.tiktok.com/@ryudai_a/video/7478622146684620040"/>
          </p:cNvPr>
          <p:cNvSpPr/>
          <p:nvPr/>
        </p:nvSpPr>
        <p:spPr>
          <a:xfrm>
            <a:off x="7525512" y="4882896"/>
            <a:ext cx="3922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u="sng" dirty="0">
                <a:solidFill>
                  <a:srgbClr val="1155CC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https://www.tiktok.com/@ryudai_a/video/747862214668462004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動画を開く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360920" y="5230368"/>
            <a:ext cx="4251960" cy="1024128"/>
          </a:xfrm>
          <a:prstGeom prst="roundRect">
            <a:avLst>
              <a:gd name="adj" fmla="val 6250"/>
            </a:avLst>
          </a:prstGeom>
          <a:solidFill>
            <a:srgbClr val="F4F2F8"/>
          </a:solidFill>
          <a:ln/>
        </p:spPr>
      </p:sp>
      <p:sp>
        <p:nvSpPr>
          <p:cNvPr id="31" name="Text 29"/>
          <p:cNvSpPr/>
          <p:nvPr/>
        </p:nvSpPr>
        <p:spPr>
          <a:xfrm>
            <a:off x="7525512" y="5321808"/>
            <a:ext cx="39227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200万フォロワー達成投稿（TikTok・64万再生）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i="1" dirty="0">
                <a:solidFill>
                  <a:srgbClr val="6B68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直近も日常的に数十万が立つことの確認。</a:t>
            </a:r>
            <a:endParaRPr lang="en-US" sz="1000" dirty="0"/>
          </a:p>
        </p:txBody>
      </p:sp>
      <p:sp>
        <p:nvSpPr>
          <p:cNvPr id="32" name="Text 30">
            <a:hlinkClick r:id="rId4" tooltip="https://www.tiktok.com/@ryudai_a/video/7664980799699127560"/>
          </p:cNvPr>
          <p:cNvSpPr/>
          <p:nvPr/>
        </p:nvSpPr>
        <p:spPr>
          <a:xfrm>
            <a:off x="7525512" y="6016752"/>
            <a:ext cx="3922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u="sng" dirty="0">
                <a:solidFill>
                  <a:srgbClr val="1155CC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https://www.tiktok.com/@ryudai_a/video/766498079969912756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動画を開く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48640" y="6272784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留意点：音源経験ゼロ＝歌唱面は未検証。まずボイトレ込みのデモ録りで見極めるのが前提。年齢・所属（スタジオ／事務所）の確認も先に。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FFB020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457200"/>
            <a:ext cx="786384" cy="786384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457200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554480" y="420624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yuuna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54480" y="9875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9A4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ユウナ　｜　ダンサー／ソロ・大阪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275320" y="512064"/>
            <a:ext cx="3337560" cy="694944"/>
          </a:xfrm>
          <a:prstGeom prst="roundRect">
            <a:avLst>
              <a:gd name="adj" fmla="val 13158"/>
            </a:avLst>
          </a:prstGeom>
          <a:solidFill>
            <a:srgbClr val="271C47"/>
          </a:solidFill>
          <a:ln/>
        </p:spPr>
      </p:sp>
      <p:sp>
        <p:nvSpPr>
          <p:cNvPr id="8" name="Text 6"/>
          <p:cNvSpPr/>
          <p:nvPr/>
        </p:nvSpPr>
        <p:spPr>
          <a:xfrm>
            <a:off x="8458200" y="566928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A4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契約ステータス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458200" y="786384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レーベル未所属（音源リリースなし・ダンサーとして活動）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1700784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「エンゲージ率22%。無言でも回る。」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548640" y="2468880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DC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 180万・総いいね1億3,620万。キャプションゼロで毎日20万再生。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48640" y="2999232"/>
            <a:ext cx="110642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7C3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大阪拠点のダンサー。TikTok 180万フォロワー、総いいね1億3,620万。ブラジリアン・ファンク系トラックでのダンスが主戦場で、直近投稿のエンゲージ率は18.9〜27.9%（平均約22%）という規模外れの数値。K-POP練習生経験あり。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4663440"/>
            <a:ext cx="2615184" cy="1463040"/>
          </a:xfrm>
          <a:prstGeom prst="roundRect">
            <a:avLst>
              <a:gd name="adj" fmla="val 5000"/>
            </a:avLst>
          </a:prstGeom>
          <a:solidFill>
            <a:srgbClr val="271C47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94944" y="4791456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180万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694944" y="5340096"/>
            <a:ext cx="23225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9A4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TikTokフォロワー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364992" y="4663440"/>
            <a:ext cx="2615184" cy="1463040"/>
          </a:xfrm>
          <a:prstGeom prst="roundRect">
            <a:avLst>
              <a:gd name="adj" fmla="val 5000"/>
            </a:avLst>
          </a:prstGeom>
          <a:solidFill>
            <a:srgbClr val="271C47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511296" y="4791456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約22%</a:t>
            </a:r>
            <a:endParaRPr lang="en-US" sz="2500" dirty="0"/>
          </a:p>
        </p:txBody>
      </p:sp>
      <p:sp>
        <p:nvSpPr>
          <p:cNvPr id="18" name="Text 16"/>
          <p:cNvSpPr/>
          <p:nvPr/>
        </p:nvSpPr>
        <p:spPr>
          <a:xfrm>
            <a:off x="3511296" y="5340096"/>
            <a:ext cx="23225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9A4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直近平均エンゲージ率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81344" y="4663440"/>
            <a:ext cx="2615184" cy="1463040"/>
          </a:xfrm>
          <a:prstGeom prst="roundRect">
            <a:avLst>
              <a:gd name="adj" fmla="val 5000"/>
            </a:avLst>
          </a:prstGeom>
          <a:solidFill>
            <a:srgbClr val="271C47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327648" y="4791456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1億3,620万</a:t>
            </a:r>
            <a:endParaRPr lang="en-US" sz="2500" dirty="0"/>
          </a:p>
        </p:txBody>
      </p:sp>
      <p:sp>
        <p:nvSpPr>
          <p:cNvPr id="21" name="Text 19"/>
          <p:cNvSpPr/>
          <p:nvPr/>
        </p:nvSpPr>
        <p:spPr>
          <a:xfrm>
            <a:off x="6327648" y="5340096"/>
            <a:ext cx="23225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9A4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総いいね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8997696" y="4663440"/>
            <a:ext cx="2615184" cy="1463040"/>
          </a:xfrm>
          <a:prstGeom prst="roundRect">
            <a:avLst>
              <a:gd name="adj" fmla="val 5000"/>
            </a:avLst>
          </a:prstGeom>
          <a:solidFill>
            <a:srgbClr val="271C47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144000" y="4791456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260万</a:t>
            </a:r>
            <a:endParaRPr lang="en-US" sz="2500" dirty="0"/>
          </a:p>
        </p:txBody>
      </p:sp>
      <p:sp>
        <p:nvSpPr>
          <p:cNvPr id="24" name="Text 22"/>
          <p:cNvSpPr/>
          <p:nvPr/>
        </p:nvSpPr>
        <p:spPr>
          <a:xfrm>
            <a:off x="9144000" y="5340096"/>
            <a:ext cx="23225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9A4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最大再生（1本）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YUUNA —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フォロワー実数と音楽性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029200" cy="402336"/>
          </a:xfrm>
          <a:prstGeom prst="rect">
            <a:avLst/>
          </a:prstGeom>
          <a:solidFill>
            <a:srgbClr val="2E2350"/>
          </a:solidFill>
          <a:ln w="9525">
            <a:solidFill>
              <a:srgbClr val="E2E0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48132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媒体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673352" y="1481328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アカウント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050792" y="1481328"/>
            <a:ext cx="1453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規模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83664"/>
            <a:ext cx="5029200" cy="402336"/>
          </a:xfrm>
          <a:prstGeom prst="rect">
            <a:avLst/>
          </a:prstGeom>
          <a:solidFill>
            <a:srgbClr val="F4F2F8"/>
          </a:solidFill>
          <a:ln w="9525">
            <a:solidFill>
              <a:srgbClr val="E2E0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" y="1883664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673352" y="1883664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@likekyuuna_s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050792" y="1883664"/>
            <a:ext cx="1453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フォロワー 180万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" y="2286000"/>
            <a:ext cx="5029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2E0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" y="2286000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673352" y="2286000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@likekyuuna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050792" y="2286000"/>
            <a:ext cx="1453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フォロワー 約46.2万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48640" y="2688336"/>
            <a:ext cx="5029200" cy="402336"/>
          </a:xfrm>
          <a:prstGeom prst="rect">
            <a:avLst/>
          </a:prstGeom>
          <a:solidFill>
            <a:srgbClr val="F4F2F8"/>
          </a:solidFill>
          <a:ln w="9525">
            <a:solidFill>
              <a:srgbClr val="E2E0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" y="2688336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連絡先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673352" y="268833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yuuna.cerl@icloud.com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050792" y="2688336"/>
            <a:ext cx="1453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3346704"/>
            <a:ext cx="5029200" cy="1371600"/>
          </a:xfrm>
          <a:prstGeom prst="roundRect">
            <a:avLst>
              <a:gd name="adj" fmla="val 5333"/>
            </a:avLst>
          </a:prstGeom>
          <a:solidFill>
            <a:srgbClr val="F4F2F8"/>
          </a:solidFill>
          <a:ln/>
        </p:spPr>
      </p:sp>
      <p:sp>
        <p:nvSpPr>
          <p:cNvPr id="21" name="Text 19"/>
          <p:cNvSpPr/>
          <p:nvPr/>
        </p:nvSpPr>
        <p:spPr>
          <a:xfrm>
            <a:off x="713232" y="3474720"/>
            <a:ext cx="4700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68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この規模で注目すべき数字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13232" y="3730752"/>
            <a:ext cx="47000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180万　TikTokフォロワー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約22%　直近平均エンゲージ率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1億3,620万　総いいね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260万　最大再生（1本）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035040" y="148132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音楽性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035040" y="1847088"/>
            <a:ext cx="5577840" cy="914400"/>
          </a:xfrm>
          <a:prstGeom prst="roundRect">
            <a:avLst>
              <a:gd name="adj" fmla="val 7000"/>
            </a:avLst>
          </a:prstGeom>
          <a:solidFill>
            <a:srgbClr val="F4F2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181344" y="1993392"/>
            <a:ext cx="237744" cy="237744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26" name="Text 24"/>
          <p:cNvSpPr/>
          <p:nvPr/>
        </p:nvSpPr>
        <p:spPr>
          <a:xfrm>
            <a:off x="6181344" y="19933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92240" y="1956816"/>
            <a:ext cx="49560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C28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本人名義の音源リリースはまだ無い。使用音源から読める嗜好は、ブラジリアン・ファンク／ラテン／ヒップホップ／K-POP。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35040" y="2871216"/>
            <a:ext cx="5577840" cy="914400"/>
          </a:xfrm>
          <a:prstGeom prst="roundRect">
            <a:avLst>
              <a:gd name="adj" fmla="val 7000"/>
            </a:avLst>
          </a:prstGeom>
          <a:solidFill>
            <a:srgbClr val="F4F2F8"/>
          </a:solidFill>
          <a:ln/>
        </p:spPr>
      </p:sp>
      <p:sp>
        <p:nvSpPr>
          <p:cNvPr id="29" name="Shape 27"/>
          <p:cNvSpPr/>
          <p:nvPr/>
        </p:nvSpPr>
        <p:spPr>
          <a:xfrm>
            <a:off x="6181344" y="3017520"/>
            <a:ext cx="237744" cy="237744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30" name="Text 28"/>
          <p:cNvSpPr/>
          <p:nvPr/>
        </p:nvSpPr>
        <p:spPr>
          <a:xfrm>
            <a:off x="6181344" y="30175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492240" y="2980944"/>
            <a:ext cx="49560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C28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「Dame Tu Cosita」系のファンク・トレンドで37.7万再生、以降も海外クリエイターの原曲でコンスタントに20万台を出している。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035040" y="3895344"/>
            <a:ext cx="5577840" cy="914400"/>
          </a:xfrm>
          <a:prstGeom prst="roundRect">
            <a:avLst>
              <a:gd name="adj" fmla="val 7000"/>
            </a:avLst>
          </a:prstGeom>
          <a:solidFill>
            <a:srgbClr val="F4F2F8"/>
          </a:solidFill>
          <a:ln/>
        </p:spPr>
      </p:sp>
      <p:sp>
        <p:nvSpPr>
          <p:cNvPr id="33" name="Shape 31"/>
          <p:cNvSpPr/>
          <p:nvPr/>
        </p:nvSpPr>
        <p:spPr>
          <a:xfrm>
            <a:off x="6181344" y="4041648"/>
            <a:ext cx="237744" cy="237744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34" name="Text 32"/>
          <p:cNvSpPr/>
          <p:nvPr/>
        </p:nvSpPr>
        <p:spPr>
          <a:xfrm>
            <a:off x="6181344" y="40416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492240" y="4005072"/>
            <a:ext cx="49560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C28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K-POP練習生経験あり。ダンスの精度に加えて“表情の作り方”とファッションが評価されている点が、アイドル／パフォーマー適性として重要。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035040" y="4919472"/>
            <a:ext cx="5577840" cy="914400"/>
          </a:xfrm>
          <a:prstGeom prst="roundRect">
            <a:avLst>
              <a:gd name="adj" fmla="val 7000"/>
            </a:avLst>
          </a:prstGeom>
          <a:solidFill>
            <a:srgbClr val="F4F2F8"/>
          </a:solidFill>
          <a:ln/>
        </p:spPr>
      </p:sp>
      <p:sp>
        <p:nvSpPr>
          <p:cNvPr id="37" name="Shape 35"/>
          <p:cNvSpPr/>
          <p:nvPr/>
        </p:nvSpPr>
        <p:spPr>
          <a:xfrm>
            <a:off x="6181344" y="5065776"/>
            <a:ext cx="237744" cy="237744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38" name="Text 36"/>
          <p:cNvSpPr/>
          <p:nvPr/>
        </p:nvSpPr>
        <p:spPr>
          <a:xfrm>
            <a:off x="6181344" y="50657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492240" y="5029200"/>
            <a:ext cx="49560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C28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コラボ相手は Ryudai、曽根凌輔（ABEMA『今日、好きになりました』）など。国内タレント文脈とも接続がある。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YUUNA —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何が魅力なのか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22392" cy="1298448"/>
          </a:xfrm>
          <a:prstGeom prst="roundRect">
            <a:avLst>
              <a:gd name="adj" fmla="val 5634"/>
            </a:avLst>
          </a:prstGeom>
          <a:solidFill>
            <a:srgbClr val="F4F2F8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55064"/>
            <a:ext cx="310896" cy="310896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55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88720" y="1627632"/>
            <a:ext cx="459943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エンゲージ率が壊れている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直近投稿で18.9%／20.2%／24.0%／26.6%／27.9%。180万規模でこの数字は、フォロワーが“貼り付いている”ことを意味する。何を出しても届く＝リリース初速の予測が立つ。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90488" y="1463040"/>
            <a:ext cx="5422392" cy="1298448"/>
          </a:xfrm>
          <a:prstGeom prst="roundRect">
            <a:avLst>
              <a:gd name="adj" fmla="val 5634"/>
            </a:avLst>
          </a:prstGeom>
          <a:solidFill>
            <a:srgbClr val="F4F2F8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373368" y="1655064"/>
            <a:ext cx="310896" cy="310896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0" name="Text 8"/>
          <p:cNvSpPr/>
          <p:nvPr/>
        </p:nvSpPr>
        <p:spPr>
          <a:xfrm>
            <a:off x="6373368" y="1655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30568" y="1627632"/>
            <a:ext cx="459943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キャプションなしで回る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直近投稿の大半は説明文が空。企画や煽りに依存せず、本人のパフォーマンスだけで20万再生が立っている。素の商品力が高い。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980944"/>
            <a:ext cx="5422392" cy="1298448"/>
          </a:xfrm>
          <a:prstGeom prst="roundRect">
            <a:avLst>
              <a:gd name="adj" fmla="val 5634"/>
            </a:avLst>
          </a:prstGeom>
          <a:solidFill>
            <a:srgbClr val="F4F2F8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31520" y="3172968"/>
            <a:ext cx="310896" cy="310896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172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88720" y="3145536"/>
            <a:ext cx="459943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海外音源での回転＝海外リーチ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ブラジル／ラテン系トラックが主軸で、海外の“Blasian／Asian duo”文脈でも語られている。日本人アーティストとしては珍しい海外オーガニック層。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90488" y="2980944"/>
            <a:ext cx="5422392" cy="1298448"/>
          </a:xfrm>
          <a:prstGeom prst="roundRect">
            <a:avLst>
              <a:gd name="adj" fmla="val 5634"/>
            </a:avLst>
          </a:prstGeom>
          <a:solidFill>
            <a:srgbClr val="F4F2F8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373368" y="3172968"/>
            <a:ext cx="310896" cy="310896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8" name="Text 16"/>
          <p:cNvSpPr/>
          <p:nvPr/>
        </p:nvSpPr>
        <p:spPr>
          <a:xfrm>
            <a:off x="6373368" y="3172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30568" y="3145536"/>
            <a:ext cx="459943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 46.2万のビジュアル資産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TikTokの動きだけでなく、静止画で成立する顔とスタイルがある。アーティスト写真／MV／広告ビジュアルにすぐ載せられる。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626864"/>
            <a:ext cx="11064240" cy="1481328"/>
          </a:xfrm>
          <a:prstGeom prst="roundRect">
            <a:avLst>
              <a:gd name="adj" fmla="val 4938"/>
            </a:avLst>
          </a:prstGeom>
          <a:solidFill>
            <a:srgbClr val="2E2350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04672" y="4791456"/>
            <a:ext cx="10552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いま起きている“詰まり”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04672" y="5102352"/>
            <a:ext cx="10552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4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億3,620万いいねという到達に対して、音源・チャンネル・グッズといった換金装置が一切ない。YouTubeも未整備。エンゲージ率22%は「出せば必ず聴かれる」状態なので、最初の1曲を我々が作れるかどうかだけが論点。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YUUNA — 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ヒットへの手がかり ／ 参考動画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6446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レーベルは何をしたら売れるか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56232"/>
            <a:ext cx="310896" cy="310896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8562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1828800"/>
            <a:ext cx="5989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K-POP練習生経験を活かした本格デビュー設計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既にトレーニングの下地がある。ボーカル／ラップの適性を見極めた上で、パフォーマンス主導型のソロまたはグループ。日本発K-POPフォーマットの枠として企画を通しやすい。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752344"/>
            <a:ext cx="310896" cy="310896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752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2724912"/>
            <a:ext cx="5989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ブラジリアン・ファンクをそのまま楽曲に持ち込む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本人が当てているのはファンク／ラテン。日本語詞のJ-POPに寄せるのではなく、回っている音そのものでデビュー曲を作れば、既存フォロワーがそのまま初速になる。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648456"/>
            <a:ext cx="310896" cy="310896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648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3621024"/>
            <a:ext cx="5989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関西発の座組で先に押さえる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大阪拠点。関西のライブ／イベント／メディアと組み合わせた地元起点のローンチは、東京発より競合が少なく、コストも軽い。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544568"/>
            <a:ext cx="310896" cy="310896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5445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05840" y="4517136"/>
            <a:ext cx="5989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YouTube／DSPの空白地に先に旗を立てる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現状YouTubeが実質未整備。公式チャンネル開設＋Shorts転載＋DSPプロフィール整備だけで、他社が入る隙を潰せる。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5440680"/>
            <a:ext cx="310896" cy="310896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5440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05840" y="5413248"/>
            <a:ext cx="5989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窓口は本人メール（プロフィール公開）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事務所を介さず直接連絡できる状態。逆に他社も同じ条件でアクセスできるため、接触の早さがそのまま勝敗になる。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60920" y="1463040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おすすめ参考動画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360920" y="1828800"/>
            <a:ext cx="4251960" cy="1024128"/>
          </a:xfrm>
          <a:prstGeom prst="roundRect">
            <a:avLst>
              <a:gd name="adj" fmla="val 6250"/>
            </a:avLst>
          </a:prstGeom>
          <a:solidFill>
            <a:srgbClr val="F4F2F8"/>
          </a:solidFill>
          <a:ln/>
        </p:spPr>
      </p:sp>
      <p:sp>
        <p:nvSpPr>
          <p:cNvPr id="22" name="Text 20"/>
          <p:cNvSpPr/>
          <p:nvPr/>
        </p:nvSpPr>
        <p:spPr>
          <a:xfrm>
            <a:off x="7525512" y="1920240"/>
            <a:ext cx="39227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【本命】260万再生の1本（TikTok・いいね31.7万）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i="1" dirty="0">
                <a:solidFill>
                  <a:srgbClr val="6B68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最大バズ。到達の上限が見える。</a:t>
            </a:r>
            <a:endParaRPr lang="en-US" sz="1000" dirty="0"/>
          </a:p>
        </p:txBody>
      </p:sp>
      <p:sp>
        <p:nvSpPr>
          <p:cNvPr id="23" name="Text 21">
            <a:hlinkClick r:id="rId1" tooltip="https://www.tiktok.com/@likekyuuna_s/video/7510958181577657607"/>
          </p:cNvPr>
          <p:cNvSpPr/>
          <p:nvPr/>
        </p:nvSpPr>
        <p:spPr>
          <a:xfrm>
            <a:off x="7525512" y="2615184"/>
            <a:ext cx="3922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u="sng" dirty="0">
                <a:solidFill>
                  <a:srgbClr val="1155CC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www.tiktok.com/@likekyuuna_s/video/7510958181577657607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動画を開く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7360920" y="2962656"/>
            <a:ext cx="4251960" cy="1024128"/>
          </a:xfrm>
          <a:prstGeom prst="roundRect">
            <a:avLst>
              <a:gd name="adj" fmla="val 6250"/>
            </a:avLst>
          </a:prstGeom>
          <a:solidFill>
            <a:srgbClr val="F4F2F8"/>
          </a:solidFill>
          <a:ln/>
        </p:spPr>
      </p:sp>
      <p:sp>
        <p:nvSpPr>
          <p:cNvPr id="25" name="Text 23"/>
          <p:cNvSpPr/>
          <p:nvPr/>
        </p:nvSpPr>
        <p:spPr>
          <a:xfrm>
            <a:off x="7525512" y="3054096"/>
            <a:ext cx="39227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ファンク・トレンド（TikTok・37.7万再生／ER 18.9%）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i="1" dirty="0">
                <a:solidFill>
                  <a:srgbClr val="6B68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得意な音の系統。デビュー曲の方向性はここに寄せるべき。</a:t>
            </a:r>
            <a:endParaRPr lang="en-US" sz="1000" dirty="0"/>
          </a:p>
        </p:txBody>
      </p:sp>
      <p:sp>
        <p:nvSpPr>
          <p:cNvPr id="26" name="Text 24">
            <a:hlinkClick r:id="rId2" tooltip="https://www.tiktok.com/@likekyuuna_s/video/7665305778932174087"/>
          </p:cNvPr>
          <p:cNvSpPr/>
          <p:nvPr/>
        </p:nvSpPr>
        <p:spPr>
          <a:xfrm>
            <a:off x="7525512" y="3749040"/>
            <a:ext cx="3922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u="sng" dirty="0">
                <a:solidFill>
                  <a:srgbClr val="1155CC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www.tiktok.com/@likekyuuna_s/video/7665305778932174087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動画を開く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360920" y="4096512"/>
            <a:ext cx="4251960" cy="1024128"/>
          </a:xfrm>
          <a:prstGeom prst="roundRect">
            <a:avLst>
              <a:gd name="adj" fmla="val 6250"/>
            </a:avLst>
          </a:prstGeom>
          <a:solidFill>
            <a:srgbClr val="F4F2F8"/>
          </a:solidFill>
          <a:ln/>
        </p:spPr>
      </p:sp>
      <p:sp>
        <p:nvSpPr>
          <p:cNvPr id="28" name="Text 26"/>
          <p:cNvSpPr/>
          <p:nvPr/>
        </p:nvSpPr>
        <p:spPr>
          <a:xfrm>
            <a:off x="7525512" y="4187952"/>
            <a:ext cx="39227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キャプションなしで24.0%（TikTok・24.5万再生）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i="1" dirty="0">
                <a:solidFill>
                  <a:srgbClr val="6B68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企画に頼らず数字が出ることの証明。この場で一番見せたい指標。</a:t>
            </a:r>
            <a:endParaRPr lang="en-US" sz="1000" dirty="0"/>
          </a:p>
        </p:txBody>
      </p:sp>
      <p:sp>
        <p:nvSpPr>
          <p:cNvPr id="29" name="Text 27">
            <a:hlinkClick r:id="rId3" tooltip="https://www.tiktok.com/@likekyuuna_s/video/7666069690829262098"/>
          </p:cNvPr>
          <p:cNvSpPr/>
          <p:nvPr/>
        </p:nvSpPr>
        <p:spPr>
          <a:xfrm>
            <a:off x="7525512" y="4882896"/>
            <a:ext cx="3922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u="sng" dirty="0">
                <a:solidFill>
                  <a:srgbClr val="1155CC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https://www.tiktok.com/@likekyuuna_s/video/7666069690829262098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動画を開く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360920" y="5230368"/>
            <a:ext cx="4251960" cy="1024128"/>
          </a:xfrm>
          <a:prstGeom prst="roundRect">
            <a:avLst>
              <a:gd name="adj" fmla="val 6250"/>
            </a:avLst>
          </a:prstGeom>
          <a:solidFill>
            <a:srgbClr val="F4F2F8"/>
          </a:solidFill>
          <a:ln/>
        </p:spPr>
      </p:sp>
      <p:sp>
        <p:nvSpPr>
          <p:cNvPr id="31" name="Text 29"/>
          <p:cNvSpPr/>
          <p:nvPr/>
        </p:nvSpPr>
        <p:spPr>
          <a:xfrm>
            <a:off x="7525512" y="5321808"/>
            <a:ext cx="39227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 27.9%の投稿（TikTok・4.3万再生／いいね1.2万）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i="1" dirty="0">
                <a:solidFill>
                  <a:srgbClr val="6B68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エンゲージの濃さ。ファンダム化の余地。</a:t>
            </a:r>
            <a:endParaRPr lang="en-US" sz="1000" dirty="0"/>
          </a:p>
        </p:txBody>
      </p:sp>
      <p:sp>
        <p:nvSpPr>
          <p:cNvPr id="32" name="Text 30">
            <a:hlinkClick r:id="rId4" tooltip="https://www.tiktok.com/@likekyuuna_s/video/7666779086928334098"/>
          </p:cNvPr>
          <p:cNvSpPr/>
          <p:nvPr/>
        </p:nvSpPr>
        <p:spPr>
          <a:xfrm>
            <a:off x="7525512" y="6016752"/>
            <a:ext cx="3922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u="sng" dirty="0">
                <a:solidFill>
                  <a:srgbClr val="1155CC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https://www.tiktok.com/@likekyuuna_s/video/7666779086928334098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動画を開く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48640" y="6272784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留意点：年齢が公開されていないため、契約前に年齢確認（未成年の場合は保護者同意）が必須。Ryudai との関係性については SNS 上で憶測も出ているため、デュオ前提の企画は本人確認を取ってから。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7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8B5CF6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457200"/>
            <a:ext cx="786384" cy="786384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457200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554480" y="420624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Vivanz Eden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54480" y="9875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9A4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ヴィバンズエデン ／ Vo・Gt 菊地諒真　｜　3ピースバンド／本命は菊地のボーカル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275320" y="512064"/>
            <a:ext cx="3337560" cy="694944"/>
          </a:xfrm>
          <a:prstGeom prst="roundRect">
            <a:avLst>
              <a:gd name="adj" fmla="val 13158"/>
            </a:avLst>
          </a:prstGeom>
          <a:solidFill>
            <a:srgbClr val="271C47"/>
          </a:solidFill>
          <a:ln/>
        </p:spPr>
      </p:sp>
      <p:sp>
        <p:nvSpPr>
          <p:cNvPr id="8" name="Text 6"/>
          <p:cNvSpPr/>
          <p:nvPr/>
        </p:nvSpPr>
        <p:spPr>
          <a:xfrm>
            <a:off x="8458200" y="566928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A4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契約ステータス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458200" y="786384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インディペンデント（レーベル未所属／自主流通・ライブは自力で完売）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1700784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「「葡萄」で証明済み。次のback numberは、この声から。」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548640" y="2468880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DC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Spotify月間14万リスナー／初ワンマン東名阪SOLD OUT／全曲 菊地諒真 作詞作曲。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48640" y="2999232"/>
            <a:ext cx="110642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7C3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2024年1月始動の3ピース。菊地諒真（Vo/Gt）、Kaoru（Ba）、湊大輝（Dr）。「葡萄」がSpotify111万再生を突破し月間リスナー14万、初ワンマンツアー『only blue』（8/15大阪・8/28東京）は両公演SOLD OUT。楽曲は全て菊地の作詞作曲。ROJACK掲載時のコピーは「圧倒的歌唱力で魅せる、カオスなスリーピースバンド」。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187952"/>
            <a:ext cx="11064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8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正式表記は「菊地諒真」（“菊池涼馬”ではありません）。前回2025/7/22の新人プレゼンで当部門から提出済み → 今回は「バンド」ではなく「菊地のボーカル」を軸に再提案。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48640" y="4663440"/>
            <a:ext cx="2615184" cy="1463040"/>
          </a:xfrm>
          <a:prstGeom prst="roundRect">
            <a:avLst>
              <a:gd name="adj" fmla="val 5000"/>
            </a:avLst>
          </a:prstGeom>
          <a:solidFill>
            <a:srgbClr val="271C47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94944" y="4791456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14.0万</a:t>
            </a:r>
            <a:endParaRPr lang="en-US" sz="2500" dirty="0"/>
          </a:p>
        </p:txBody>
      </p:sp>
      <p:sp>
        <p:nvSpPr>
          <p:cNvPr id="16" name="Text 14"/>
          <p:cNvSpPr/>
          <p:nvPr/>
        </p:nvSpPr>
        <p:spPr>
          <a:xfrm>
            <a:off x="694944" y="5340096"/>
            <a:ext cx="23225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9A4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Spotify月間リスナー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364992" y="4663440"/>
            <a:ext cx="2615184" cy="1463040"/>
          </a:xfrm>
          <a:prstGeom prst="roundRect">
            <a:avLst>
              <a:gd name="adj" fmla="val 5000"/>
            </a:avLst>
          </a:prstGeom>
          <a:solidFill>
            <a:srgbClr val="271C47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511296" y="4791456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111万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3511296" y="5340096"/>
            <a:ext cx="23225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9A4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「葡萄」Spotify再生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181344" y="4663440"/>
            <a:ext cx="2615184" cy="1463040"/>
          </a:xfrm>
          <a:prstGeom prst="roundRect">
            <a:avLst>
              <a:gd name="adj" fmla="val 5000"/>
            </a:avLst>
          </a:prstGeom>
          <a:solidFill>
            <a:srgbClr val="271C47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327648" y="4791456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SOLD OUT</a:t>
            </a:r>
            <a:endParaRPr lang="en-US" sz="2500" dirty="0"/>
          </a:p>
        </p:txBody>
      </p:sp>
      <p:sp>
        <p:nvSpPr>
          <p:cNvPr id="22" name="Text 20"/>
          <p:cNvSpPr/>
          <p:nvPr/>
        </p:nvSpPr>
        <p:spPr>
          <a:xfrm>
            <a:off x="6327648" y="5340096"/>
            <a:ext cx="23225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9A4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初ワンマン 東京・大阪 両公演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997696" y="4663440"/>
            <a:ext cx="2615184" cy="1463040"/>
          </a:xfrm>
          <a:prstGeom prst="roundRect">
            <a:avLst>
              <a:gd name="adj" fmla="val 5000"/>
            </a:avLst>
          </a:prstGeom>
          <a:solidFill>
            <a:srgbClr val="271C47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144000" y="4791456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130万</a:t>
            </a:r>
            <a:endParaRPr lang="en-US" sz="2500" dirty="0"/>
          </a:p>
        </p:txBody>
      </p:sp>
      <p:sp>
        <p:nvSpPr>
          <p:cNvPr id="25" name="Text 23"/>
          <p:cNvSpPr/>
          <p:nvPr/>
        </p:nvSpPr>
        <p:spPr>
          <a:xfrm>
            <a:off x="9144000" y="5340096"/>
            <a:ext cx="23225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9A4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TikTok最大再生（葡萄クリップ）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VIVANZ EDEN —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フォロワー実数と音楽性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029200" cy="402336"/>
          </a:xfrm>
          <a:prstGeom prst="rect">
            <a:avLst/>
          </a:prstGeom>
          <a:solidFill>
            <a:srgbClr val="2E2350"/>
          </a:solidFill>
          <a:ln w="9525">
            <a:solidFill>
              <a:srgbClr val="E2E0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48132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媒体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673352" y="1481328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アカウント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050792" y="1481328"/>
            <a:ext cx="1453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規模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83664"/>
            <a:ext cx="5029200" cy="402336"/>
          </a:xfrm>
          <a:prstGeom prst="rect">
            <a:avLst/>
          </a:prstGeom>
          <a:solidFill>
            <a:srgbClr val="F4F2F8"/>
          </a:solidFill>
          <a:ln w="9525">
            <a:solidFill>
              <a:srgbClr val="E2E0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" y="1883664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673352" y="1883664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@vivanzeden_jp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050792" y="1883664"/>
            <a:ext cx="1453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フォロワー 11.98万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" y="2286000"/>
            <a:ext cx="5029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2E0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" y="2286000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YouTube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673352" y="2286000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@vivanzedenjp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050792" y="2286000"/>
            <a:ext cx="1453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登録者 3.75万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48640" y="2688336"/>
            <a:ext cx="5029200" cy="402336"/>
          </a:xfrm>
          <a:prstGeom prst="rect">
            <a:avLst/>
          </a:prstGeom>
          <a:solidFill>
            <a:srgbClr val="F4F2F8"/>
          </a:solidFill>
          <a:ln w="9525">
            <a:solidFill>
              <a:srgbClr val="E2E0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" y="2688336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Spotify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673352" y="268833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Vivanz Eden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050792" y="2688336"/>
            <a:ext cx="1453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月間リスナー 14.0万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3090672"/>
            <a:ext cx="5029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2E0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" y="3090672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673352" y="3090672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@vivanzedenjp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050792" y="3090672"/>
            <a:ext cx="1453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8640" y="3493008"/>
            <a:ext cx="5029200" cy="402336"/>
          </a:xfrm>
          <a:prstGeom prst="rect">
            <a:avLst/>
          </a:prstGeom>
          <a:solidFill>
            <a:srgbClr val="F4F2F8"/>
          </a:solidFill>
          <a:ln w="9525">
            <a:solidFill>
              <a:srgbClr val="E2E0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792" y="349300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673352" y="3493008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@VivanzEden / @__ryomakikuchi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050792" y="3493008"/>
            <a:ext cx="1453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48640" y="4151376"/>
            <a:ext cx="5029200" cy="1371600"/>
          </a:xfrm>
          <a:prstGeom prst="roundRect">
            <a:avLst>
              <a:gd name="adj" fmla="val 5333"/>
            </a:avLst>
          </a:prstGeom>
          <a:solidFill>
            <a:srgbClr val="F4F2F8"/>
          </a:solidFill>
          <a:ln/>
        </p:spPr>
      </p:sp>
      <p:sp>
        <p:nvSpPr>
          <p:cNvPr id="29" name="Text 27"/>
          <p:cNvSpPr/>
          <p:nvPr/>
        </p:nvSpPr>
        <p:spPr>
          <a:xfrm>
            <a:off x="713232" y="4279392"/>
            <a:ext cx="4700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68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この規模で注目すべき数字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13232" y="4535424"/>
            <a:ext cx="47000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14.0万　Spotify月間リスナー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111万　「葡萄」Spotify再生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SOLD OUT　初ワンマン 東京・大阪 両公演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130万　TikTok最大再生（葡萄クリップ）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035040" y="148132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音楽性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035040" y="1847088"/>
            <a:ext cx="5577840" cy="914400"/>
          </a:xfrm>
          <a:prstGeom prst="roundRect">
            <a:avLst>
              <a:gd name="adj" fmla="val 7000"/>
            </a:avLst>
          </a:prstGeom>
          <a:solidFill>
            <a:srgbClr val="F4F2F8"/>
          </a:solidFill>
          <a:ln/>
        </p:spPr>
      </p:sp>
      <p:sp>
        <p:nvSpPr>
          <p:cNvPr id="33" name="Shape 31"/>
          <p:cNvSpPr/>
          <p:nvPr/>
        </p:nvSpPr>
        <p:spPr>
          <a:xfrm>
            <a:off x="6181344" y="1993392"/>
            <a:ext cx="237744" cy="237744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34" name="Text 32"/>
          <p:cNvSpPr/>
          <p:nvPr/>
        </p:nvSpPr>
        <p:spPr>
          <a:xfrm>
            <a:off x="6181344" y="19933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492240" y="1956816"/>
            <a:ext cx="49560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C28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ロック／ポップス／R&amp;B／ボカロを横断するジャンルレス。武器は菊地諒真の歌唱力（ミックスボイスを含む声域と音圧）で、バンドの編成よりも「声」が先に立つ構造。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035040" y="2871216"/>
            <a:ext cx="5577840" cy="914400"/>
          </a:xfrm>
          <a:prstGeom prst="roundRect">
            <a:avLst>
              <a:gd name="adj" fmla="val 7000"/>
            </a:avLst>
          </a:prstGeom>
          <a:solidFill>
            <a:srgbClr val="F4F2F8"/>
          </a:solidFill>
          <a:ln/>
        </p:spPr>
      </p:sp>
      <p:sp>
        <p:nvSpPr>
          <p:cNvPr id="37" name="Shape 35"/>
          <p:cNvSpPr/>
          <p:nvPr/>
        </p:nvSpPr>
        <p:spPr>
          <a:xfrm>
            <a:off x="6181344" y="3017520"/>
            <a:ext cx="237744" cy="237744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38" name="Text 36"/>
          <p:cNvSpPr/>
          <p:nvPr/>
        </p:nvSpPr>
        <p:spPr>
          <a:xfrm>
            <a:off x="6181344" y="30175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492240" y="2980944"/>
            <a:ext cx="49560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C28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リリースは 葡萄（2026/5/27・作詞作曲 菊地諒真／編曲 菊地諒真・福島章嗣）、春うらら、美学、マルベリー、ETA、透明（松浦航大とのコラボ）、ワインレッドナイト ほか。アルバム『offbase』『青果』（2024）。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035040" y="3895344"/>
            <a:ext cx="5577840" cy="914400"/>
          </a:xfrm>
          <a:prstGeom prst="roundRect">
            <a:avLst>
              <a:gd name="adj" fmla="val 7000"/>
            </a:avLst>
          </a:prstGeom>
          <a:solidFill>
            <a:srgbClr val="F4F2F8"/>
          </a:solidFill>
          <a:ln/>
        </p:spPr>
      </p:sp>
      <p:sp>
        <p:nvSpPr>
          <p:cNvPr id="41" name="Shape 39"/>
          <p:cNvSpPr/>
          <p:nvPr/>
        </p:nvSpPr>
        <p:spPr>
          <a:xfrm>
            <a:off x="6181344" y="4041648"/>
            <a:ext cx="237744" cy="237744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42" name="Text 40"/>
          <p:cNvSpPr/>
          <p:nvPr/>
        </p:nvSpPr>
        <p:spPr>
          <a:xfrm>
            <a:off x="6181344" y="40416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492240" y="4005072"/>
            <a:ext cx="49560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C28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DSP実績：葡萄 111万／ワインレッドナイト 41.6万／MULBERRY 23.1万／透明 14.8万／ETA 10.9万。YouTubeは 葡萄MV 84万／ワインレッドナイト 23万／マルベリー 17万／透明MV 15万。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035040" y="4919472"/>
            <a:ext cx="5577840" cy="914400"/>
          </a:xfrm>
          <a:prstGeom prst="roundRect">
            <a:avLst>
              <a:gd name="adj" fmla="val 7000"/>
            </a:avLst>
          </a:prstGeom>
          <a:solidFill>
            <a:srgbClr val="F4F2F8"/>
          </a:solidFill>
          <a:ln/>
        </p:spPr>
      </p:sp>
      <p:sp>
        <p:nvSpPr>
          <p:cNvPr id="45" name="Shape 43"/>
          <p:cNvSpPr/>
          <p:nvPr/>
        </p:nvSpPr>
        <p:spPr>
          <a:xfrm>
            <a:off x="6181344" y="5065776"/>
            <a:ext cx="237744" cy="237744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46" name="Text 44"/>
          <p:cNvSpPr/>
          <p:nvPr/>
        </p:nvSpPr>
        <p:spPr>
          <a:xfrm>
            <a:off x="6181344" y="50657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492240" y="5029200"/>
            <a:ext cx="49560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C28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菊地はTikTok LIVEで back number「助演女優症2」、藤井風「満ちてゆく」などを弾き語り。カバー時の反応が本人の楽曲と同等以上に取れており、“歌える人”としての支持が数字で見えている。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VIVANZ EDEN —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何が魅力なのか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22392" cy="1298448"/>
          </a:xfrm>
          <a:prstGeom prst="roundRect">
            <a:avLst>
              <a:gd name="adj" fmla="val 5634"/>
            </a:avLst>
          </a:prstGeom>
          <a:solidFill>
            <a:srgbClr val="F4F2F8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55064"/>
            <a:ext cx="310896" cy="310896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55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88720" y="1627632"/>
            <a:ext cx="459943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本命は菊地諒真のボーカル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1曲で100万再生を作り、弾き語りカバーでも同じだけ刺さる。バンドの機能というより「この声を聴きたい」で人が集まっている状態。back number 的な“国民的歌声”の枠に最も近い。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90488" y="1463040"/>
            <a:ext cx="5422392" cy="1298448"/>
          </a:xfrm>
          <a:prstGeom prst="roundRect">
            <a:avLst>
              <a:gd name="adj" fmla="val 5634"/>
            </a:avLst>
          </a:prstGeom>
          <a:solidFill>
            <a:srgbClr val="F4F2F8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373368" y="1655064"/>
            <a:ext cx="310896" cy="310896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6373368" y="1655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30568" y="1627632"/>
            <a:ext cx="459943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作詞作曲が本人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全曲を菊地が書いている。声だけの人ではなく、曲を書ける人。制作コストが低く、リリースサイクルを我々が設計すればすぐ回せる。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980944"/>
            <a:ext cx="5422392" cy="1298448"/>
          </a:xfrm>
          <a:prstGeom prst="roundRect">
            <a:avLst>
              <a:gd name="adj" fmla="val 5634"/>
            </a:avLst>
          </a:prstGeom>
          <a:solidFill>
            <a:srgbClr val="F4F2F8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31520" y="3172968"/>
            <a:ext cx="310896" cy="310896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172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88720" y="3145536"/>
            <a:ext cx="459943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「実需」がある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月間14万リスナー、初ワンマン東京・大阪 両公演SOLD OUT、追加公演発表。SNSの数字ではなくチケットと再生というお金の動く指標で実証済み。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90488" y="2980944"/>
            <a:ext cx="5422392" cy="1298448"/>
          </a:xfrm>
          <a:prstGeom prst="roundRect">
            <a:avLst>
              <a:gd name="adj" fmla="val 5634"/>
            </a:avLst>
          </a:prstGeom>
          <a:solidFill>
            <a:srgbClr val="F4F2F8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373368" y="3172968"/>
            <a:ext cx="310896" cy="310896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8" name="Text 16"/>
          <p:cNvSpPr/>
          <p:nvPr/>
        </p:nvSpPr>
        <p:spPr>
          <a:xfrm>
            <a:off x="6373368" y="3172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30568" y="3145536"/>
            <a:ext cx="459943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TikTokの当て方が上手い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「どこの歌詞が好き？」「この曲どう？」型の投げかけで、1曲を切り口を変えて何度も当てている（110万再生でER13.6%／保存2.9万／シェア1.34万）。運用ノウハウが既にある。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626864"/>
            <a:ext cx="11064240" cy="1481328"/>
          </a:xfrm>
          <a:prstGeom prst="roundRect">
            <a:avLst>
              <a:gd name="adj" fmla="val 4938"/>
            </a:avLst>
          </a:prstGeom>
          <a:solidFill>
            <a:srgbClr val="2E2350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04672" y="4791456"/>
            <a:ext cx="10552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いま起きている“詰まり”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04672" y="5102352"/>
            <a:ext cx="10552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4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「葡萄」の一発は当たったが、それを連打に変える制作・流通体制がない。TikTok 11.98万に対しSpotify月間14万＝すでにSNS以上に音楽で聴かれている稀なタイプなのに、供給が追いついていない。バンドとしての機能が弱い分、菊地の声を主役に据えた座組の再設計が最短距離。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VIVANZ EDEN — 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ヒットへの手がかり ／ 参考動画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6446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レーベルは何をしたら売れるか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56232"/>
            <a:ext cx="310896" cy="310896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8562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1828800"/>
            <a:ext cx="5989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菊地の声を主役に置いた制作体制に組み替える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バンド名は資産なので維持しつつ、制作は「菊地＝シンガーソングライター＋外部アレンジャー／スタジオミュージシャン」に切り替える。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752344"/>
            <a:ext cx="310896" cy="310896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752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2724912"/>
            <a:ext cx="5989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「葡萄」の当たりを曲の連打に変える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月間14万リスナーが乗っている今、3ヶ月に1曲では足りない。プリプロを外に出して6〜8週間に1曲のサイクルへ。すでに「Always」制作中との発信もあり、タイミングは今。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648456"/>
            <a:ext cx="310896" cy="310896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648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3621024"/>
            <a:ext cx="5989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弾き語りカバー資産を正面から商品化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number／藤井風のカバーが刺さっている。カバー配信EPかライブ盤（許諾込み）で、“歌がうまい人”としての一般認知を先に取る。オリジナルより早く広い層に届く。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544568"/>
            <a:ext cx="310896" cy="310896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5445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05840" y="4517136"/>
            <a:ext cx="5989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ライブが売れる強みでP/Lを先に立てる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初ワンマンで東名阪級が完売する動員力。ツアー規模拡大＋物販設計で、音源が育つ前にキャッシュを回せる。契約条件の説明もしやすい。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5440680"/>
            <a:ext cx="310896" cy="310896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5440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05840" y="5413248"/>
            <a:ext cx="5989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タイアップは“声質”で取りにいく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ドラマ・アニメの主題歌枠は歌声の説得力で決まる。葡萄／透明の音源をそのまま提案材料にできる完成度がある。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60920" y="1463040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おすすめ参考動画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360920" y="1828800"/>
            <a:ext cx="4251960" cy="1024128"/>
          </a:xfrm>
          <a:prstGeom prst="roundRect">
            <a:avLst>
              <a:gd name="adj" fmla="val 6250"/>
            </a:avLst>
          </a:prstGeom>
          <a:solidFill>
            <a:srgbClr val="F4F2F8"/>
          </a:solidFill>
          <a:ln/>
        </p:spPr>
      </p:sp>
      <p:sp>
        <p:nvSpPr>
          <p:cNvPr id="22" name="Text 20"/>
          <p:cNvSpPr/>
          <p:nvPr/>
        </p:nvSpPr>
        <p:spPr>
          <a:xfrm>
            <a:off x="7525512" y="1920240"/>
            <a:ext cx="39227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【本命】Vivanz Eden「葡萄」Music Video（YouTube・84万再生）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i="1" dirty="0">
                <a:solidFill>
                  <a:srgbClr val="6B68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代表曲。まずこれで声を聴かせる。</a:t>
            </a:r>
            <a:endParaRPr lang="en-US" sz="1000" dirty="0"/>
          </a:p>
        </p:txBody>
      </p:sp>
      <p:sp>
        <p:nvSpPr>
          <p:cNvPr id="23" name="Text 21">
            <a:hlinkClick r:id="rId1" tooltip="https://www.youtube.com/watch?v=eAstqpJPMgA"/>
          </p:cNvPr>
          <p:cNvSpPr/>
          <p:nvPr/>
        </p:nvSpPr>
        <p:spPr>
          <a:xfrm>
            <a:off x="7525512" y="2615184"/>
            <a:ext cx="3922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u="sng" dirty="0">
                <a:solidFill>
                  <a:srgbClr val="1155CC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www.youtube.com/watch?v=eAstqpJPMg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動画を開く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7360920" y="2962656"/>
            <a:ext cx="4251960" cy="1024128"/>
          </a:xfrm>
          <a:prstGeom prst="roundRect">
            <a:avLst>
              <a:gd name="adj" fmla="val 6250"/>
            </a:avLst>
          </a:prstGeom>
          <a:solidFill>
            <a:srgbClr val="F4F2F8"/>
          </a:solidFill>
          <a:ln/>
        </p:spPr>
      </p:sp>
      <p:sp>
        <p:nvSpPr>
          <p:cNvPr id="25" name="Text 23"/>
          <p:cNvSpPr/>
          <p:nvPr/>
        </p:nvSpPr>
        <p:spPr>
          <a:xfrm>
            <a:off x="7525512" y="3054096"/>
            <a:ext cx="39227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「葡萄」TikTokクリップ（110万再生／ER13.6%／保存2.9万）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i="1" dirty="0">
                <a:solidFill>
                  <a:srgbClr val="6B68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1曲を切り口を変えて何度も当てる運用力。</a:t>
            </a:r>
            <a:endParaRPr lang="en-US" sz="1000" dirty="0"/>
          </a:p>
        </p:txBody>
      </p:sp>
      <p:sp>
        <p:nvSpPr>
          <p:cNvPr id="26" name="Text 24">
            <a:hlinkClick r:id="rId2" tooltip="https://www.tiktok.com/@vivanzeden_jp/video/7652617742779976981"/>
          </p:cNvPr>
          <p:cNvSpPr/>
          <p:nvPr/>
        </p:nvSpPr>
        <p:spPr>
          <a:xfrm>
            <a:off x="7525512" y="3749040"/>
            <a:ext cx="3922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u="sng" dirty="0">
                <a:solidFill>
                  <a:srgbClr val="1155CC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www.tiktok.com/@vivanzeden_jp/video/7652617742779976981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動画を開く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360920" y="4096512"/>
            <a:ext cx="4251960" cy="1024128"/>
          </a:xfrm>
          <a:prstGeom prst="roundRect">
            <a:avLst>
              <a:gd name="adj" fmla="val 6250"/>
            </a:avLst>
          </a:prstGeom>
          <a:solidFill>
            <a:srgbClr val="F4F2F8"/>
          </a:solidFill>
          <a:ln/>
        </p:spPr>
      </p:sp>
      <p:sp>
        <p:nvSpPr>
          <p:cNvPr id="28" name="Text 26"/>
          <p:cNvSpPr/>
          <p:nvPr/>
        </p:nvSpPr>
        <p:spPr>
          <a:xfrm>
            <a:off x="7525512" y="4187952"/>
            <a:ext cx="39227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菊地諒真 弾き語り／back number「助演女優症2」（TikTok切り抜き）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i="1" dirty="0">
                <a:solidFill>
                  <a:srgbClr val="6B68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「次のback number枠」という提案の根拠。声一本での説得力を見せる。</a:t>
            </a:r>
            <a:endParaRPr lang="en-US" sz="1000" dirty="0"/>
          </a:p>
        </p:txBody>
      </p:sp>
      <p:sp>
        <p:nvSpPr>
          <p:cNvPr id="29" name="Text 27">
            <a:hlinkClick r:id="rId3" tooltip="https://www.tiktok.com/@shogohamada1229/video/7506809303290940690"/>
          </p:cNvPr>
          <p:cNvSpPr/>
          <p:nvPr/>
        </p:nvSpPr>
        <p:spPr>
          <a:xfrm>
            <a:off x="7525512" y="4882896"/>
            <a:ext cx="3922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u="sng" dirty="0">
                <a:solidFill>
                  <a:srgbClr val="1155CC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https://www.tiktok.com/@shogohamada1229/video/750680930329094069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動画を開く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360920" y="5230368"/>
            <a:ext cx="4251960" cy="1024128"/>
          </a:xfrm>
          <a:prstGeom prst="roundRect">
            <a:avLst>
              <a:gd name="adj" fmla="val 6250"/>
            </a:avLst>
          </a:prstGeom>
          <a:solidFill>
            <a:srgbClr val="F4F2F8"/>
          </a:solidFill>
          <a:ln/>
        </p:spPr>
      </p:sp>
      <p:sp>
        <p:nvSpPr>
          <p:cNvPr id="31" name="Text 29"/>
          <p:cNvSpPr/>
          <p:nvPr/>
        </p:nvSpPr>
        <p:spPr>
          <a:xfrm>
            <a:off x="7525512" y="5321808"/>
            <a:ext cx="39227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Vivanz Eden「透明」Music Video（松浦航大コラボ・15万再生）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i="1" dirty="0">
                <a:solidFill>
                  <a:srgbClr val="6B68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歌い手／ボーカリスト文脈での評価。外部との噛み合わせ。</a:t>
            </a:r>
            <a:endParaRPr lang="en-US" sz="1000" dirty="0"/>
          </a:p>
        </p:txBody>
      </p:sp>
      <p:sp>
        <p:nvSpPr>
          <p:cNvPr id="32" name="Text 30">
            <a:hlinkClick r:id="rId4" tooltip="https://www.youtube.com/watch?v=doS0m4KjHQU"/>
          </p:cNvPr>
          <p:cNvSpPr/>
          <p:nvPr/>
        </p:nvSpPr>
        <p:spPr>
          <a:xfrm>
            <a:off x="7525512" y="6016752"/>
            <a:ext cx="3922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u="sng" dirty="0">
                <a:solidFill>
                  <a:srgbClr val="1155CC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https://www.youtube.com/watch?v=doS0m4KjHQ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動画を開く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48640" y="6272784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留意点：前回（2025/7/22）当部門から提出済み案件のため、今回は「菊地のボーカル軸」という切り口の違いを明確にする必要あり。バンド内の合意形成（座組変更を受け入れられるか）と、8月ワンマン後の他社接触リスクが論点。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D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 NOTE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Ryudai と yuuna — 別々にご紹介しましたが、同じ方向です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394960" cy="2286000"/>
          </a:xfrm>
          <a:prstGeom prst="roundRect">
            <a:avLst>
              <a:gd name="adj" fmla="val 3600"/>
            </a:avLst>
          </a:prstGeom>
          <a:solidFill>
            <a:srgbClr val="F4F2F8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682496"/>
            <a:ext cx="329184" cy="329184"/>
          </a:xfrm>
          <a:prstGeom prst="ellipse">
            <a:avLst/>
          </a:prstGeom>
          <a:solidFill>
            <a:srgbClr val="3AB7C9"/>
          </a:solidFill>
          <a:ln/>
        </p:spPr>
      </p:sp>
      <p:sp>
        <p:nvSpPr>
          <p:cNvPr id="6" name="Text 4"/>
          <p:cNvSpPr/>
          <p:nvPr/>
        </p:nvSpPr>
        <p:spPr>
          <a:xfrm>
            <a:off x="1207008" y="1664208"/>
            <a:ext cx="4517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Ryudai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86384" y="2139696"/>
            <a:ext cx="49194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C28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 200万フォロワー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C28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最大再生 5,430万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C28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iCON Z（LDH）男性部門2次審査合格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C28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日韓ハーフ・振付／ダンス講師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1481328"/>
            <a:ext cx="5394960" cy="2286000"/>
          </a:xfrm>
          <a:prstGeom prst="roundRect">
            <a:avLst>
              <a:gd name="adj" fmla="val 3600"/>
            </a:avLst>
          </a:prstGeom>
          <a:solidFill>
            <a:srgbClr val="F4F2F8"/>
          </a:solidFill>
          <a:ln/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37376" y="1682496"/>
            <a:ext cx="329184" cy="329184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0" name="Text 8"/>
          <p:cNvSpPr/>
          <p:nvPr/>
        </p:nvSpPr>
        <p:spPr>
          <a:xfrm>
            <a:off x="6876288" y="1664208"/>
            <a:ext cx="4517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yuuna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55664" y="2139696"/>
            <a:ext cx="49194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C28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 180万フォロワー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C28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最大再生 260万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C28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K-POP練習生経験あり／大阪拠点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C28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 46.2万・ビジュアル資産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4050792"/>
            <a:ext cx="310896" cy="310896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0507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05840" y="40233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共通点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TikTokを主戦場とする男性ダンサー／レーベル未所属／音源リリースなし／使用音源が海外トラック中心でグローバルにオーガニックなリーチを持つ／K-POPフォーマットとの適性。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828032"/>
            <a:ext cx="310896" cy="310896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828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05840" y="48006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違い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Ryudai は到達力（1本5,430万）と海外アーティスト共演の実績。yuuna はエンゲージ率（約22%）とビジュアル資産。攻め方が違うため、企画も分けて設計します。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5605272"/>
            <a:ext cx="310896" cy="310896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56052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05840" y="55778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扱い方の前提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B37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共演実績はありますが、契約はあくまで個別で進める前提です。ユニット企画は本人確認を取った上での別案として置きます。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D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追加候補枠（別途リサーチ中）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4F2F8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627632"/>
            <a:ext cx="10552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C28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Ryudai / yuuna と同系統（TikTok を主戦場とするダンサー・パフォーマー型、レーベル未所属、フォロワー数十万〜数百万規模）のアーティストを継続調査中。確定次第、本資料に追記します。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2788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スクリーニング基準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3182112"/>
            <a:ext cx="5422392" cy="768096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2E0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13232" y="3419856"/>
            <a:ext cx="256032" cy="25603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" y="34198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60704" y="3310128"/>
            <a:ext cx="4745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C28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TikTokフォロワー 30万以上／直近30日でエンゲージ率10%以上を維持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90488" y="3182112"/>
            <a:ext cx="5422392" cy="768096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2E0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55080" y="3419856"/>
            <a:ext cx="256032" cy="25603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3" name="Text 11"/>
          <p:cNvSpPr/>
          <p:nvPr/>
        </p:nvSpPr>
        <p:spPr>
          <a:xfrm>
            <a:off x="6355080" y="34198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702552" y="3310128"/>
            <a:ext cx="4745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C28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レーベル・大手事務所への所属がない（直接窓口が開いている）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4096512"/>
            <a:ext cx="5422392" cy="768096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2E0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3232" y="4334256"/>
            <a:ext cx="256032" cy="25603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7" name="Text 15"/>
          <p:cNvSpPr/>
          <p:nvPr/>
        </p:nvSpPr>
        <p:spPr>
          <a:xfrm>
            <a:off x="713232" y="43342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60704" y="4224528"/>
            <a:ext cx="4745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C28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ダンス／パフォーマンス主導で、ボーカル適性が見込める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90488" y="4096512"/>
            <a:ext cx="5422392" cy="768096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2E0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55080" y="4334256"/>
            <a:ext cx="256032" cy="25603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1" name="Text 19"/>
          <p:cNvSpPr/>
          <p:nvPr/>
        </p:nvSpPr>
        <p:spPr>
          <a:xfrm>
            <a:off x="6355080" y="43342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702552" y="4224528"/>
            <a:ext cx="4745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C28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使用音源が海外トラック中心＝グローバル展開の初速が期待できる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5138928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2E2350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5266944"/>
            <a:ext cx="10552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この枠は本資料に追記します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04672" y="5559552"/>
            <a:ext cx="105521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6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候補が固まり次第、同じフォーマット（表題／数値／音楽性／魅力／打ち手／参考動画）でスライドを追加し、Googleドキュメント側にも同じ内容を反映します。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7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2A1F4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D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本日のアスク — 4組それぞれ、次の一手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271C47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737360"/>
            <a:ext cx="310896" cy="310896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737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52144" y="1591056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saewool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840480" y="1591056"/>
            <a:ext cx="7543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7C3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アニメ／ゲームIPタイアップの枠出しと、公式カバーEPの許諾可否を確認したい。韓国在住のため契約スキームの相談も。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414016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271C47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0" y="2670048"/>
            <a:ext cx="310896" cy="310896"/>
          </a:xfrm>
          <a:prstGeom prst="ellipse">
            <a:avLst/>
          </a:prstGeom>
          <a:solidFill>
            <a:srgbClr val="3AB7C9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52144" y="2523744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Ryudai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840480" y="2523744"/>
            <a:ext cx="7543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7C3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まずタイアップ／プロモ枠での起用から。並行してボイトレ込みのデモ録りを1本。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3346704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271C47"/>
          </a:solidFill>
          <a:ln/>
        </p:spPr>
      </p:sp>
      <p:sp>
        <p:nvSpPr>
          <p:cNvPr id="16" name="Shape 14"/>
          <p:cNvSpPr/>
          <p:nvPr/>
        </p:nvSpPr>
        <p:spPr>
          <a:xfrm>
            <a:off x="731520" y="3602736"/>
            <a:ext cx="310896" cy="310896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602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52144" y="3456432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yuuna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840480" y="3456432"/>
            <a:ext cx="7543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7C3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年齢確認を含めた初回コンタクトの許可。窓口は本人メールが公開されているため、着手はすぐ可能。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4279392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271C47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520" y="4535424"/>
            <a:ext cx="310896" cy="310896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45354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52144" y="438912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Vivanz Eden（菊地諒真）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840480" y="4389120"/>
            <a:ext cx="7543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7C3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8月ワンマン（8/15大阪・8/28東京）に同行して現場確認したい。前回提出案件のため、菊地個人軸での再提案として扱いたい。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5358384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FF4D6D">
              <a:alpha val="18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96" y="544982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動く順番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103120" y="5431536"/>
            <a:ext cx="9281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DEB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スピード優先度は yuuna ＞ Ryudai ＞ Vivanz Eden ＞ saewool。yuuna / Ryudai は窓口が公開されており他社も同条件でアクセスできる。Vivanz Eden は8月ワンマン後に他社接触が増える想定。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48640" y="632764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87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本資料の数値は 2026年7月26日 時点で TikTok / YouTube / Spotify および各種公開情報から実地取得したもの。フォロワー数などは各プラットフォームの表示丸めに準拠。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新人アーティスト プレゼンテーション</dc:title>
  <dc:subject>アソシエイテッドレコーズ A&amp;R 新人発表会 提出資料</dc:subject>
  <dc:creator>SMAR1 手塚</dc:creator>
  <cp:lastModifiedBy>SMAR1 手塚</cp:lastModifiedBy>
  <cp:revision>1</cp:revision>
  <dcterms:created xsi:type="dcterms:W3CDTF">2026-07-26T14:20:43Z</dcterms:created>
  <dcterms:modified xsi:type="dcterms:W3CDTF">2026-07-26T14:20:43Z</dcterms:modified>
</cp:coreProperties>
</file>