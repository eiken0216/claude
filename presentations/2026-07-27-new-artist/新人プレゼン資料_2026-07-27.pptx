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eAstqpJPMgA" TargetMode="External"/><Relationship Id="rId3" Type="http://schemas.openxmlformats.org/officeDocument/2006/relationships/hyperlink" Target="https://www.youtube.com/watch?v=eAstqpJPMgA" TargetMode="External"/><Relationship Id="rId5" Type="http://schemas.openxmlformats.org/officeDocument/2006/relationships/hyperlink" Target="https://www.tiktok.com/@vivanzeden_jp/video/7652617742779976981" TargetMode="External"/><Relationship Id="rId6" Type="http://schemas.openxmlformats.org/officeDocument/2006/relationships/hyperlink" Target="https://www.tiktok.com/@vivanzeden_jp/video/7652617742779976981" TargetMode="External"/><Relationship Id="rId8" Type="http://schemas.openxmlformats.org/officeDocument/2006/relationships/hyperlink" Target="https://www.tiktok.com/@shogohamada1229/video/7506809303290940690" TargetMode="External"/><Relationship Id="rId9" Type="http://schemas.openxmlformats.org/officeDocument/2006/relationships/hyperlink" Target="https://www.tiktok.com/@shogohamada1229/video/7506809303290940690" TargetMode="External"/><Relationship Id="rId11" Type="http://schemas.openxmlformats.org/officeDocument/2006/relationships/hyperlink" Target="https://www.youtube.com/watch?v=doS0m4KjHQU" TargetMode="External"/><Relationship Id="rId12" Type="http://schemas.openxmlformats.org/officeDocument/2006/relationships/hyperlink" Target="https://www.youtube.com/watch?v=doS0m4KjHQU" TargetMode="External"/><Relationship Id="rId1" Type="http://schemas.openxmlformats.org/officeDocument/2006/relationships/image" Target="../media/image-6-1.jpg"/><Relationship Id="rId4" Type="http://schemas.openxmlformats.org/officeDocument/2006/relationships/image" Target="../media/image-6-2.jpg"/><Relationship Id="rId7" Type="http://schemas.openxmlformats.org/officeDocument/2006/relationships/image" Target="../media/image-6-3.jpg"/><Relationship Id="rId10" Type="http://schemas.openxmlformats.org/officeDocument/2006/relationships/image" Target="../media/image-6-4.jp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iktok.com/@ryudai_a/video/7562880832323456263" TargetMode="External"/><Relationship Id="rId3" Type="http://schemas.openxmlformats.org/officeDocument/2006/relationships/hyperlink" Target="https://www.tiktok.com/@ryudai_a/video/7562880832323456263" TargetMode="External"/><Relationship Id="rId5" Type="http://schemas.openxmlformats.org/officeDocument/2006/relationships/hyperlink" Target="https://www.tiktok.com/@ryudai_a/video/7618798329471765768" TargetMode="External"/><Relationship Id="rId6" Type="http://schemas.openxmlformats.org/officeDocument/2006/relationships/hyperlink" Target="https://www.tiktok.com/@ryudai_a/video/7618798329471765768" TargetMode="External"/><Relationship Id="rId8" Type="http://schemas.openxmlformats.org/officeDocument/2006/relationships/hyperlink" Target="https://www.tiktok.com/@ryudai_a/video/7478622146684620040" TargetMode="External"/><Relationship Id="rId9" Type="http://schemas.openxmlformats.org/officeDocument/2006/relationships/hyperlink" Target="https://www.tiktok.com/@ryudai_a/video/7478622146684620040" TargetMode="External"/><Relationship Id="rId11" Type="http://schemas.openxmlformats.org/officeDocument/2006/relationships/hyperlink" Target="https://www.tiktok.com/@ryudai_a/video/7664980799699127560" TargetMode="External"/><Relationship Id="rId12" Type="http://schemas.openxmlformats.org/officeDocument/2006/relationships/hyperlink" Target="https://www.tiktok.com/@ryudai_a/video/7664980799699127560" TargetMode="External"/><Relationship Id="rId1" Type="http://schemas.openxmlformats.org/officeDocument/2006/relationships/image" Target="../media/image-10-1.jpg"/><Relationship Id="rId4" Type="http://schemas.openxmlformats.org/officeDocument/2006/relationships/image" Target="../media/image-10-2.jpg"/><Relationship Id="rId7" Type="http://schemas.openxmlformats.org/officeDocument/2006/relationships/image" Target="../media/image-10-3.jpg"/><Relationship Id="rId10" Type="http://schemas.openxmlformats.org/officeDocument/2006/relationships/image" Target="../media/image-10-4.jp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iktok.com/@likekyuuna_s/video/7510958181577657607" TargetMode="External"/><Relationship Id="rId3" Type="http://schemas.openxmlformats.org/officeDocument/2006/relationships/hyperlink" Target="https://www.tiktok.com/@likekyuuna_s/video/7510958181577657607" TargetMode="External"/><Relationship Id="rId5" Type="http://schemas.openxmlformats.org/officeDocument/2006/relationships/hyperlink" Target="https://www.tiktok.com/@likekyuuna_s/video/7665305778932174087" TargetMode="External"/><Relationship Id="rId6" Type="http://schemas.openxmlformats.org/officeDocument/2006/relationships/hyperlink" Target="https://www.tiktok.com/@likekyuuna_s/video/7665305778932174087" TargetMode="External"/><Relationship Id="rId8" Type="http://schemas.openxmlformats.org/officeDocument/2006/relationships/hyperlink" Target="https://www.tiktok.com/@likekyuuna_s/video/7666069690829262098" TargetMode="External"/><Relationship Id="rId9" Type="http://schemas.openxmlformats.org/officeDocument/2006/relationships/hyperlink" Target="https://www.tiktok.com/@likekyuuna_s/video/7666069690829262098" TargetMode="External"/><Relationship Id="rId11" Type="http://schemas.openxmlformats.org/officeDocument/2006/relationships/hyperlink" Target="https://www.tiktok.com/@likekyuuna_s/video/7666779086928334098" TargetMode="External"/><Relationship Id="rId12" Type="http://schemas.openxmlformats.org/officeDocument/2006/relationships/hyperlink" Target="https://www.tiktok.com/@likekyuuna_s/video/7666779086928334098" TargetMode="External"/><Relationship Id="rId1" Type="http://schemas.openxmlformats.org/officeDocument/2006/relationships/image" Target="../media/image-14-1.jpg"/><Relationship Id="rId4" Type="http://schemas.openxmlformats.org/officeDocument/2006/relationships/image" Target="../media/image-14-2.jpg"/><Relationship Id="rId7" Type="http://schemas.openxmlformats.org/officeDocument/2006/relationships/image" Target="../media/image-14-3.jpg"/><Relationship Id="rId10" Type="http://schemas.openxmlformats.org/officeDocument/2006/relationships/image" Target="../media/image-14-4.jp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737360"/>
            <a:ext cx="5669280" cy="5669280"/>
          </a:xfrm>
          <a:prstGeom prst="ellipse">
            <a:avLst/>
          </a:prstGeom>
          <a:solidFill>
            <a:srgbClr val="2A1F4D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023360"/>
            <a:ext cx="3108960" cy="3108960"/>
          </a:xfrm>
          <a:prstGeom prst="ellipse">
            <a:avLst/>
          </a:prstGeom>
          <a:solidFill>
            <a:srgbClr val="FF4D6D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344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アソシエイテッドレコーズ　｜　A&amp;R 新人発表会 提出資料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8778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新人アーティスト プレゼンテーション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035808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最近見つけた新人アーティスト 3組　—　いずれもレーベル未所属、契約が狙える段階です。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開催日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397764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2026年7月27日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437997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部門 ／ 発表者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437997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SMAR1　／　手塚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7823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形式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478231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1組5分 × 3組＝15分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5184648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数値基準日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518464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2026年7月26日 時点の実地取得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89720" y="1737360"/>
            <a:ext cx="2423160" cy="658368"/>
          </a:xfrm>
          <a:prstGeom prst="roundRect">
            <a:avLst>
              <a:gd name="adj" fmla="val 16667"/>
            </a:avLst>
          </a:prstGeom>
          <a:solidFill>
            <a:srgbClr val="271C47"/>
          </a:solidFill>
          <a:ln/>
        </p:spPr>
      </p:sp>
      <p:pic>
        <p:nvPicPr>
          <p:cNvPr id="16" name="Image 0" descr="images/vivanz_s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317736" y="1819656"/>
            <a:ext cx="493776" cy="493776"/>
          </a:xfrm>
          <a:prstGeom prst="ellipse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921240" y="1737360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Vivanz Eden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9189720" y="2523744"/>
            <a:ext cx="2423160" cy="658368"/>
          </a:xfrm>
          <a:prstGeom prst="roundRect">
            <a:avLst>
              <a:gd name="adj" fmla="val 16667"/>
            </a:avLst>
          </a:prstGeom>
          <a:solidFill>
            <a:srgbClr val="271C47"/>
          </a:solidFill>
          <a:ln/>
        </p:spPr>
      </p:sp>
      <p:pic>
        <p:nvPicPr>
          <p:cNvPr id="19" name="Image 1" descr="images/ryudai_a_portrai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17736" y="2606040"/>
            <a:ext cx="493776" cy="493776"/>
          </a:xfrm>
          <a:prstGeom prst="ellipse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921240" y="2523744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Ryudai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9189720" y="3310128"/>
            <a:ext cx="2423160" cy="658368"/>
          </a:xfrm>
          <a:prstGeom prst="roundRect">
            <a:avLst>
              <a:gd name="adj" fmla="val 16667"/>
            </a:avLst>
          </a:prstGeom>
          <a:solidFill>
            <a:srgbClr val="271C47"/>
          </a:solidFill>
          <a:ln/>
        </p:spPr>
      </p:sp>
      <p:pic>
        <p:nvPicPr>
          <p:cNvPr id="22" name="Image 2" descr="images/yuuna_alt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317736" y="3392424"/>
            <a:ext cx="493776" cy="493776"/>
          </a:xfrm>
          <a:prstGeom prst="ellipse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921240" y="3310128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yuuna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3組の位置づけ — 詰まっている場所が全部違う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475488"/>
          </a:xfrm>
          <a:prstGeom prst="rect">
            <a:avLst/>
          </a:prstGeom>
          <a:solidFill>
            <a:srgbClr val="2E2350"/>
          </a:solidFill>
          <a:ln w="9525">
            <a:solidFill>
              <a:srgbClr val="E2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63040"/>
            <a:ext cx="35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24712" y="1463040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アーティスト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27832" y="1463040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区分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919472" y="1463040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主要フォロワー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296912" y="1463040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最大到達 ／ DSP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040112" y="1463040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ステータス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1938528"/>
            <a:ext cx="11064240" cy="475488"/>
          </a:xfrm>
          <a:prstGeom prst="rect">
            <a:avLst/>
          </a:prstGeom>
          <a:solidFill>
            <a:srgbClr val="F4F2F8"/>
          </a:solidFill>
          <a:ln w="9525">
            <a:solidFill>
              <a:srgbClr val="E2E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938528"/>
            <a:ext cx="35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24712" y="1938528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Vivanz Eden（菊地諒真）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27832" y="1938528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3ピース／Vo本命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9472" y="1938528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11.98万 / YT 3.75万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296912" y="1938528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Spotify月間14万・葡萄111万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40112" y="1938528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インディペンデント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2414016"/>
            <a:ext cx="1106424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2414016"/>
            <a:ext cx="35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4712" y="2414016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Ryudai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27832" y="2414016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ダンサー・振付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19472" y="2414016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200万 / IG 13.1万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96912" y="2414016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TikTok最大5,430万 / 音源なし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40112" y="2414016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未所属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2889504"/>
            <a:ext cx="11064240" cy="475488"/>
          </a:xfrm>
          <a:prstGeom prst="rect">
            <a:avLst/>
          </a:prstGeom>
          <a:solidFill>
            <a:srgbClr val="F4F2F8"/>
          </a:solidFill>
          <a:ln w="9525">
            <a:solidFill>
              <a:srgbClr val="E2E0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2889504"/>
            <a:ext cx="356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4712" y="2889504"/>
            <a:ext cx="19568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yuuna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27832" y="2889504"/>
            <a:ext cx="1545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ダンサー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19472" y="2889504"/>
            <a:ext cx="22311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180万 / IG 46.2万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296912" y="2889504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TikTok最大260万 / 音源なし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040112" y="2889504"/>
            <a:ext cx="14996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未所属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40416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一言で言うと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4059936"/>
            <a:ext cx="3553968" cy="2103120"/>
          </a:xfrm>
          <a:prstGeom prst="roundRect">
            <a:avLst>
              <a:gd name="adj" fmla="val 3478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pic>
        <p:nvPicPr>
          <p:cNvPr id="34" name="Image 0" descr="images/vivanz_s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4242816"/>
            <a:ext cx="566928" cy="566928"/>
          </a:xfrm>
          <a:prstGeom prst="ellipse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1408176" y="4242816"/>
            <a:ext cx="251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Vivanz Eden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731520" y="4956048"/>
            <a:ext cx="3188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実需あり、供給が追いつかない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731520" y="5559552"/>
            <a:ext cx="3188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インディペンデント（レーベル未所属／自主流通・ライブは自力で完売）。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303776" y="4059936"/>
            <a:ext cx="3553968" cy="2103120"/>
          </a:xfrm>
          <a:prstGeom prst="roundRect">
            <a:avLst>
              <a:gd name="adj" fmla="val 3478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pic>
        <p:nvPicPr>
          <p:cNvPr id="39" name="Image 1" descr="images/ryudai_a_portrai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86656" y="4242816"/>
            <a:ext cx="566928" cy="566928"/>
          </a:xfrm>
          <a:prstGeom prst="ellipse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5163312" y="4242816"/>
            <a:ext cx="251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Ryudai</a:t>
            </a:r>
            <a:endParaRPr lang="en-US" sz="1350" dirty="0"/>
          </a:p>
        </p:txBody>
      </p:sp>
      <p:sp>
        <p:nvSpPr>
          <p:cNvPr id="41" name="Text 37"/>
          <p:cNvSpPr/>
          <p:nvPr/>
        </p:nvSpPr>
        <p:spPr>
          <a:xfrm>
            <a:off x="4486656" y="4956048"/>
            <a:ext cx="3188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到達力は完成、音楽資産がゼロ</a:t>
            </a:r>
            <a:endParaRPr lang="en-US" sz="1200" dirty="0"/>
          </a:p>
        </p:txBody>
      </p:sp>
      <p:sp>
        <p:nvSpPr>
          <p:cNvPr id="42" name="Text 38"/>
          <p:cNvSpPr/>
          <p:nvPr/>
        </p:nvSpPr>
        <p:spPr>
          <a:xfrm>
            <a:off x="4486656" y="5559552"/>
            <a:ext cx="3188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レーベル未所属（音源リリースなし・ダンサーとして活動）。</a:t>
            </a:r>
            <a:endParaRPr lang="en-US" sz="1000" dirty="0"/>
          </a:p>
        </p:txBody>
      </p:sp>
      <p:sp>
        <p:nvSpPr>
          <p:cNvPr id="43" name="Shape 39"/>
          <p:cNvSpPr/>
          <p:nvPr/>
        </p:nvSpPr>
        <p:spPr>
          <a:xfrm>
            <a:off x="8058912" y="4059936"/>
            <a:ext cx="3553968" cy="2103120"/>
          </a:xfrm>
          <a:prstGeom prst="roundRect">
            <a:avLst>
              <a:gd name="adj" fmla="val 3478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pic>
        <p:nvPicPr>
          <p:cNvPr id="44" name="Image 2" descr="images/yuuna_alt2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41792" y="4242816"/>
            <a:ext cx="566928" cy="566928"/>
          </a:xfrm>
          <a:prstGeom prst="ellipse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8918448" y="4242816"/>
            <a:ext cx="2511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yuuna</a:t>
            </a:r>
            <a:endParaRPr lang="en-US" sz="1350" dirty="0"/>
          </a:p>
        </p:txBody>
      </p:sp>
      <p:sp>
        <p:nvSpPr>
          <p:cNvPr id="46" name="Text 41"/>
          <p:cNvSpPr/>
          <p:nvPr/>
        </p:nvSpPr>
        <p:spPr>
          <a:xfrm>
            <a:off x="8241792" y="4956048"/>
            <a:ext cx="3188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ER約22%、出せば必ず聴かれる</a:t>
            </a:r>
            <a:endParaRPr lang="en-US" sz="1200" dirty="0"/>
          </a:p>
        </p:txBody>
      </p:sp>
      <p:sp>
        <p:nvSpPr>
          <p:cNvPr id="47" name="Text 42"/>
          <p:cNvSpPr/>
          <p:nvPr/>
        </p:nvSpPr>
        <p:spPr>
          <a:xfrm>
            <a:off x="8241792" y="5559552"/>
            <a:ext cx="31882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レーベル未所属（音源リリースなし・ダンサーとして活動）。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8B5CF6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786384" cy="78638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42062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Vivanz Eden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54480" y="9875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ヴィバンズエデン ／ Vo・Gt 菊地諒真　｜　3ピースバンド／本命は菊地のボーカル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75320" y="512064"/>
            <a:ext cx="3337560" cy="694944"/>
          </a:xfrm>
          <a:prstGeom prst="roundRect">
            <a:avLst>
              <a:gd name="adj" fmla="val 13158"/>
            </a:avLst>
          </a:prstGeom>
          <a:solidFill>
            <a:srgbClr val="271C47"/>
          </a:solidFill>
          <a:ln/>
        </p:spPr>
      </p:sp>
      <p:sp>
        <p:nvSpPr>
          <p:cNvPr id="8" name="Text 6"/>
          <p:cNvSpPr/>
          <p:nvPr/>
        </p:nvSpPr>
        <p:spPr>
          <a:xfrm>
            <a:off x="8458200" y="566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契約ステータス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458200" y="7863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インディペンデント（レーベル未所属／自主流通・ライブは自力で完売）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705088" y="1591056"/>
            <a:ext cx="2980944" cy="3035808"/>
          </a:xfrm>
          <a:prstGeom prst="roundRect">
            <a:avLst>
              <a:gd name="adj" fmla="val 1840"/>
            </a:avLst>
          </a:prstGeom>
          <a:solidFill>
            <a:srgbClr val="271C47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images/vivanz_s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78240" y="1664208"/>
            <a:ext cx="2834640" cy="2084832"/>
          </a:xfrm>
          <a:prstGeom prst="rect">
            <a:avLst/>
          </a:prstGeom>
        </p:spPr>
      </p:pic>
      <p:pic>
        <p:nvPicPr>
          <p:cNvPr id="12" name="Image 1" descr="images/vivanz_alt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778240" y="3803904"/>
            <a:ext cx="896112" cy="7498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765792" y="3803904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7C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Vo・Gt 菊地諒真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48640" y="164592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「葡萄」で証明済み。次のback numberは、この声から。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548640" y="2633472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C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Spotify月間14万リスナー／初ワンマン東名阪SOLD OUT／全曲 菊地諒真 作詞作曲。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48640" y="3035808"/>
            <a:ext cx="80010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2024年1月始動の3ピース。菊地諒真（Vo/Gt）、Kaoru（Ba）、湊大輝（Dr）。「葡萄」がSpotify111万再生を突破し月間リスナー14万、初ワンマンツアー『only blue』（8/15大阪・8/28東京）は両公演SOLD OUT。楽曲は全て菊地の作詞作曲。ROJACK掲載時のコピーは「圧倒的歌唱力で魅せる、カオスなスリーピースバンド」。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8640" y="4261104"/>
            <a:ext cx="8001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F8F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正式表記は「菊地諒真」（“菊池涼馬”ではありません）。前回2025/7/22の新人プレゼンで当部門から提出済み → 今回は「バンド」ではなく「菊地のボーカル」を軸に再提案。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48640" y="4736592"/>
            <a:ext cx="2615184" cy="1463040"/>
          </a:xfrm>
          <a:prstGeom prst="roundRect">
            <a:avLst>
              <a:gd name="adj" fmla="val 5000"/>
            </a:avLst>
          </a:prstGeom>
          <a:solidFill>
            <a:srgbClr val="271C47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94944" y="48646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14.0万</a:t>
            </a:r>
            <a:endParaRPr lang="en-US" sz="2500" dirty="0"/>
          </a:p>
        </p:txBody>
      </p:sp>
      <p:sp>
        <p:nvSpPr>
          <p:cNvPr id="20" name="Text 16"/>
          <p:cNvSpPr/>
          <p:nvPr/>
        </p:nvSpPr>
        <p:spPr>
          <a:xfrm>
            <a:off x="694944" y="5413248"/>
            <a:ext cx="2322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Spotify月間リスナー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3364992" y="4736592"/>
            <a:ext cx="2615184" cy="1463040"/>
          </a:xfrm>
          <a:prstGeom prst="roundRect">
            <a:avLst>
              <a:gd name="adj" fmla="val 5000"/>
            </a:avLst>
          </a:prstGeom>
          <a:solidFill>
            <a:srgbClr val="271C47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3511296" y="48646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111万</a:t>
            </a:r>
            <a:endParaRPr lang="en-US" sz="2500" dirty="0"/>
          </a:p>
        </p:txBody>
      </p:sp>
      <p:sp>
        <p:nvSpPr>
          <p:cNvPr id="23" name="Text 19"/>
          <p:cNvSpPr/>
          <p:nvPr/>
        </p:nvSpPr>
        <p:spPr>
          <a:xfrm>
            <a:off x="3511296" y="5413248"/>
            <a:ext cx="2322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「葡萄」Spotify再生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181344" y="4736592"/>
            <a:ext cx="2615184" cy="1463040"/>
          </a:xfrm>
          <a:prstGeom prst="roundRect">
            <a:avLst>
              <a:gd name="adj" fmla="val 5000"/>
            </a:avLst>
          </a:prstGeom>
          <a:solidFill>
            <a:srgbClr val="271C47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6327648" y="48646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 OUT</a:t>
            </a:r>
            <a:endParaRPr lang="en-US" sz="2500" dirty="0"/>
          </a:p>
        </p:txBody>
      </p:sp>
      <p:sp>
        <p:nvSpPr>
          <p:cNvPr id="26" name="Text 22"/>
          <p:cNvSpPr/>
          <p:nvPr/>
        </p:nvSpPr>
        <p:spPr>
          <a:xfrm>
            <a:off x="6327648" y="5413248"/>
            <a:ext cx="2322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初ワンマン 東京・大阪 両公演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8997696" y="4736592"/>
            <a:ext cx="2615184" cy="1463040"/>
          </a:xfrm>
          <a:prstGeom prst="roundRect">
            <a:avLst>
              <a:gd name="adj" fmla="val 5000"/>
            </a:avLst>
          </a:prstGeom>
          <a:solidFill>
            <a:srgbClr val="271C47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9144000" y="48646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130万</a:t>
            </a:r>
            <a:endParaRPr lang="en-US" sz="2500" dirty="0"/>
          </a:p>
        </p:txBody>
      </p:sp>
      <p:sp>
        <p:nvSpPr>
          <p:cNvPr id="29" name="Text 25"/>
          <p:cNvSpPr/>
          <p:nvPr/>
        </p:nvSpPr>
        <p:spPr>
          <a:xfrm>
            <a:off x="9144000" y="5413248"/>
            <a:ext cx="2322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TikTok最大再生（葡萄クリップ）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VIVANZ EDEN —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フォロワー実数と音楽性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0" cy="402336"/>
          </a:xfrm>
          <a:prstGeom prst="rect">
            <a:avLst/>
          </a:prstGeom>
          <a:solidFill>
            <a:srgbClr val="2E2350"/>
          </a:solidFill>
          <a:ln w="9525">
            <a:solidFill>
              <a:srgbClr val="E2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81328"/>
            <a:ext cx="90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媒体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73352" y="1481328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アカウント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50792" y="1481328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規模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83664"/>
            <a:ext cx="5029200" cy="402336"/>
          </a:xfrm>
          <a:prstGeom prst="rect">
            <a:avLst/>
          </a:prstGeom>
          <a:solidFill>
            <a:srgbClr val="F4F2F8"/>
          </a:solidFill>
          <a:ln w="9525">
            <a:solidFill>
              <a:srgbClr val="E2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83664"/>
            <a:ext cx="90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73352" y="1883664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@vivanzeden_jp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50792" y="1883664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フォロワー 11.98万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5029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286000"/>
            <a:ext cx="90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73352" y="2286000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@vivanzedenjp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50792" y="2286000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登録者 3.75万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688336"/>
            <a:ext cx="5029200" cy="402336"/>
          </a:xfrm>
          <a:prstGeom prst="rect">
            <a:avLst/>
          </a:prstGeom>
          <a:solidFill>
            <a:srgbClr val="F4F2F8"/>
          </a:solidFill>
          <a:ln w="9525">
            <a:solidFill>
              <a:srgbClr val="E2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688336"/>
            <a:ext cx="90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Spotify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673352" y="2688336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Vivanz Eden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050792" y="2688336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月間リスナー 14.0万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090672"/>
            <a:ext cx="5029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090672"/>
            <a:ext cx="90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73352" y="3090672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@vivanzedenjp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050792" y="3090672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493008"/>
            <a:ext cx="5029200" cy="402336"/>
          </a:xfrm>
          <a:prstGeom prst="rect">
            <a:avLst/>
          </a:prstGeom>
          <a:solidFill>
            <a:srgbClr val="F4F2F8"/>
          </a:solidFill>
          <a:ln w="9525">
            <a:solidFill>
              <a:srgbClr val="E2E0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493008"/>
            <a:ext cx="90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673352" y="3493008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@VivanzEden / @__ryomakikuchi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050792" y="3493008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151376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F4F2F8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4279392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この規模で注目すべき数字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3232" y="4535424"/>
            <a:ext cx="4700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14.0万　Spotify月間リスナー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111万　「葡萄」Spotify再生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 OUT　初ワンマン 東京・大阪 両公演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130万　TikTok最大再生（葡萄クリップ）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35040" y="14813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音楽性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035040" y="1847088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F4F2F8"/>
          </a:solidFill>
          <a:ln/>
        </p:spPr>
      </p:sp>
      <p:sp>
        <p:nvSpPr>
          <p:cNvPr id="33" name="Shape 31"/>
          <p:cNvSpPr/>
          <p:nvPr/>
        </p:nvSpPr>
        <p:spPr>
          <a:xfrm>
            <a:off x="6181344" y="1993392"/>
            <a:ext cx="237744" cy="23774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6181344" y="1993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1956816"/>
            <a:ext cx="495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ロック／ポップス／R&amp;B／ボカロを横断するジャンルレス。武器は菊地諒真の歌唱力（ミックスボイスを含む声域と音圧）で、バンドの編成よりも「声」が先に立つ構造。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35040" y="2871216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F4F2F8"/>
          </a:solidFill>
          <a:ln/>
        </p:spPr>
      </p:sp>
      <p:sp>
        <p:nvSpPr>
          <p:cNvPr id="37" name="Shape 35"/>
          <p:cNvSpPr/>
          <p:nvPr/>
        </p:nvSpPr>
        <p:spPr>
          <a:xfrm>
            <a:off x="6181344" y="3017520"/>
            <a:ext cx="237744" cy="23774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8" name="Text 36"/>
          <p:cNvSpPr/>
          <p:nvPr/>
        </p:nvSpPr>
        <p:spPr>
          <a:xfrm>
            <a:off x="6181344" y="3017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2980944"/>
            <a:ext cx="495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リリースは 葡萄（2026/5/27・作詞作曲 菊地諒真／編曲 菊地諒真・福島章嗣）、春うらら、美学、マルベリー、ETA、透明（松浦航大とのコラボ）、ワインレッドナイト ほか。アルバム『offbase』『青果』（2024）。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035040" y="3895344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F4F2F8"/>
          </a:solidFill>
          <a:ln/>
        </p:spPr>
      </p:sp>
      <p:sp>
        <p:nvSpPr>
          <p:cNvPr id="41" name="Shape 39"/>
          <p:cNvSpPr/>
          <p:nvPr/>
        </p:nvSpPr>
        <p:spPr>
          <a:xfrm>
            <a:off x="6181344" y="4041648"/>
            <a:ext cx="237744" cy="23774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2" name="Text 40"/>
          <p:cNvSpPr/>
          <p:nvPr/>
        </p:nvSpPr>
        <p:spPr>
          <a:xfrm>
            <a:off x="6181344" y="4041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92240" y="4005072"/>
            <a:ext cx="495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DSP実績：葡萄 111万／ワインレッドナイト 41.6万／MULBERRY 23.1万／透明 14.8万／ETA 10.9万。YouTubeは 葡萄MV 84万／ワインレッドナイト 23万／マルベリー 17万／透明MV 15万。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035040" y="4919472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F4F2F8"/>
          </a:solidFill>
          <a:ln/>
        </p:spPr>
      </p:sp>
      <p:sp>
        <p:nvSpPr>
          <p:cNvPr id="45" name="Shape 43"/>
          <p:cNvSpPr/>
          <p:nvPr/>
        </p:nvSpPr>
        <p:spPr>
          <a:xfrm>
            <a:off x="6181344" y="5065776"/>
            <a:ext cx="237744" cy="23774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6" name="Text 44"/>
          <p:cNvSpPr/>
          <p:nvPr/>
        </p:nvSpPr>
        <p:spPr>
          <a:xfrm>
            <a:off x="6181344" y="50657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92240" y="5029200"/>
            <a:ext cx="495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菊地はTikTok LIVEで back number「助演女優症2」、藤井風「満ちてゆく」などを弾き語り。カバー時の反応が本人の楽曲と同等以上に取れており、“歌える人”としての支持が数字で見えている。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VIVANZ EDEN —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何が魅力なのか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22392" cy="1298448"/>
          </a:xfrm>
          <a:prstGeom prst="roundRect">
            <a:avLst>
              <a:gd name="adj" fmla="val 5634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55064"/>
            <a:ext cx="310896" cy="3108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55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627632"/>
            <a:ext cx="45994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本命は菊地諒真のボーカル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1曲で100万再生を作り、弾き語りカバーでも同じだけ刺さる。バンドの機能というより「この声を聴きたい」で人が集まっている状態。back number 的な“国民的歌声”の枠に最も近い。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0488" y="1463040"/>
            <a:ext cx="5422392" cy="1298448"/>
          </a:xfrm>
          <a:prstGeom prst="roundRect">
            <a:avLst>
              <a:gd name="adj" fmla="val 5634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73368" y="1655064"/>
            <a:ext cx="310896" cy="3108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6373368" y="1655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30568" y="1627632"/>
            <a:ext cx="45994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作詞作曲が本人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全曲を菊地が書いている。声だけの人ではなく、曲を書ける人。制作コストが低く、リリースサイクルを我々が設計すればすぐ回せる。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80944"/>
            <a:ext cx="5422392" cy="1298448"/>
          </a:xfrm>
          <a:prstGeom prst="roundRect">
            <a:avLst>
              <a:gd name="adj" fmla="val 5634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172968"/>
            <a:ext cx="310896" cy="3108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145536"/>
            <a:ext cx="45994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「実需」がある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月間14万リスナー、初ワンマン東京・大阪 両公演SOLD OUT、追加公演発表。SNSの数字ではなくチケットと再生というお金の動く指標で実証済み。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0488" y="2980944"/>
            <a:ext cx="5422392" cy="1298448"/>
          </a:xfrm>
          <a:prstGeom prst="roundRect">
            <a:avLst>
              <a:gd name="adj" fmla="val 5634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73368" y="3172968"/>
            <a:ext cx="310896" cy="3108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30568" y="3145536"/>
            <a:ext cx="45994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TikTokの当て方が上手い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「どこの歌詞が好き？」「この曲どう？」型の投げかけで、1曲を切り口を変えて何度も当てている（110万再生でER13.6%／保存2.9万／シェア1.34万）。運用ノウハウが既にある。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26864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2E2350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" y="4791456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いま起きている“詰まり”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5102352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「葡萄」の一発は当たったが、それを連打に変える制作・流通体制がない。TikTok 11.98万に対しSpotify月間14万＝すでにSNS以上に音楽で聴かれている稀なタイプなのに、供給が追いついていない。バンドとしての機能が弱い分、菊地の声を主役に据えた座組の再設計が最短距離。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VIVANZ EDEN —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ヒットへの手がかり ／ 参考動画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レーベルは何をしたら売れるか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56232"/>
            <a:ext cx="310896" cy="3108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56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菊地の声を主役に置いた制作体制に組み替える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バンド名は資産なので維持しつつ、制作は「菊地＝シンガーソングライター＋外部アレンジャー／スタジオミュージシャン」に切り替える。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52344"/>
            <a:ext cx="310896" cy="3108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724912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「葡萄」の当たりを曲の連打に変える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月間14万リスナーが乗っている今、3ヶ月に1曲では足りない。プリプロを外に出して6〜8週間に1曲のサイクルへ。すでに「Always」制作中との発信もあり、タイミングは今。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48456"/>
            <a:ext cx="310896" cy="3108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621024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弾き語りカバー資産を正面から商品化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number／藤井風のカバーが刺さっている。カバー配信EPかライブ盤（許諾込み）で、“歌がうまい人”としての一般認知を先に取る。オリジナルより早く広い層に届く。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44568"/>
            <a:ext cx="310896" cy="3108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517136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ライブが売れる強みでP/Lを先に立てる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初ワンマンで東名阪級が完売する動員力。ツアー規模拡大＋物販設計で、音源が育つ前にキャッシュを回せる。契約条件の説明もしやすい。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440680"/>
            <a:ext cx="310896" cy="3108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5413248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タイアップは“声質”で取りにいく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ドラマ・アニメの主題歌枠は歌声の説得力で決まる。葡萄／透明の音源をそのまま提案材料にできる完成度がある。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60920" y="14630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おすすめ参考動画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360920" y="1828800"/>
            <a:ext cx="4251960" cy="1024128"/>
          </a:xfrm>
          <a:prstGeom prst="roundRect">
            <a:avLst>
              <a:gd name="adj" fmla="val 6250"/>
            </a:avLst>
          </a:prstGeom>
          <a:solidFill>
            <a:srgbClr val="F4F2F8"/>
          </a:solidFill>
          <a:ln/>
        </p:spPr>
      </p:sp>
      <p:pic>
        <p:nvPicPr>
          <p:cNvPr id="22" name="Image 0" descr="images/vivanzeden_jp_ref0.jpg">
            <a:hlinkClick r:id="rId2" tooltip="https://www.youtube.com/watch?v=eAstqpJPMgA"/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1920240"/>
            <a:ext cx="1133856" cy="84124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787384" y="1911096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【本命】Vivanz Eden「葡萄」Music Video（YouTube・84万再生）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6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代表曲。まずこれで声を聴かせる。</a:t>
            </a:r>
            <a:endParaRPr lang="en-US" sz="950" dirty="0"/>
          </a:p>
        </p:txBody>
      </p:sp>
      <p:sp>
        <p:nvSpPr>
          <p:cNvPr id="24" name="Text 21">
            <a:hlinkClick r:id="rId3" tooltip="https://www.youtube.com/watch?v=eAstqpJPMgA"/>
          </p:cNvPr>
          <p:cNvSpPr/>
          <p:nvPr/>
        </p:nvSpPr>
        <p:spPr>
          <a:xfrm>
            <a:off x="8787384" y="262432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https://www.youtube.com/watch?v=eAstqpJPMgA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動画を開く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360920" y="2962656"/>
            <a:ext cx="4251960" cy="1024128"/>
          </a:xfrm>
          <a:prstGeom prst="roundRect">
            <a:avLst>
              <a:gd name="adj" fmla="val 6250"/>
            </a:avLst>
          </a:prstGeom>
          <a:solidFill>
            <a:srgbClr val="F4F2F8"/>
          </a:solidFill>
          <a:ln/>
        </p:spPr>
      </p:sp>
      <p:pic>
        <p:nvPicPr>
          <p:cNvPr id="26" name="Image 1" descr="images/vivanzeden_jp_ref1.jpg">
            <a:hlinkClick r:id="rId5" tooltip="https://www.tiktok.com/@vivanzeden_jp/video/7652617742779976981"/>
      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52360" y="3054096"/>
            <a:ext cx="1133856" cy="84124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87384" y="304495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「葡萄」TikTokクリップ（110万再生／ER13.6%／保存2.9万）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6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1曲を切り口を変えて何度も当てる運用力。</a:t>
            </a:r>
            <a:endParaRPr lang="en-US" sz="950" dirty="0"/>
          </a:p>
        </p:txBody>
      </p:sp>
      <p:sp>
        <p:nvSpPr>
          <p:cNvPr id="28" name="Text 24">
            <a:hlinkClick r:id="rId6" tooltip="https://www.tiktok.com/@vivanzeden_jp/video/7652617742779976981"/>
          </p:cNvPr>
          <p:cNvSpPr/>
          <p:nvPr/>
        </p:nvSpPr>
        <p:spPr>
          <a:xfrm>
            <a:off x="8787384" y="375818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https://www.tiktok.com/@vivanzeden_jp/video/7652617742779976981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動画を開く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7360920" y="4096512"/>
            <a:ext cx="4251960" cy="1024128"/>
          </a:xfrm>
          <a:prstGeom prst="roundRect">
            <a:avLst>
              <a:gd name="adj" fmla="val 6250"/>
            </a:avLst>
          </a:prstGeom>
          <a:solidFill>
            <a:srgbClr val="F4F2F8"/>
          </a:solidFill>
          <a:ln/>
        </p:spPr>
      </p:sp>
      <p:pic>
        <p:nvPicPr>
          <p:cNvPr id="30" name="Image 2" descr="images/vivanzeden_jp_ref2.jpg">
            <a:hlinkClick r:id="rId8" tooltip="https://www.tiktok.com/@shogohamada1229/video/7506809303290940690"/>
      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452360" y="4187952"/>
            <a:ext cx="1133856" cy="84124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787384" y="4178808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菊地諒真 弾き語り／back number「助演女優症2」（TikTok切り抜き）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6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「次のback number枠」という提案の根拠。声一本での説得力を見せる。</a:t>
            </a:r>
            <a:endParaRPr lang="en-US" sz="950" dirty="0"/>
          </a:p>
        </p:txBody>
      </p:sp>
      <p:sp>
        <p:nvSpPr>
          <p:cNvPr id="32" name="Text 27">
            <a:hlinkClick r:id="rId9" tooltip="https://www.tiktok.com/@shogohamada1229/video/7506809303290940690"/>
          </p:cNvPr>
          <p:cNvSpPr/>
          <p:nvPr/>
        </p:nvSpPr>
        <p:spPr>
          <a:xfrm>
            <a:off x="8787384" y="489204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https://www.tiktok.com/@shogohamada1229/video/7506809303290940690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動画を開く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7360920" y="5230368"/>
            <a:ext cx="4251960" cy="1024128"/>
          </a:xfrm>
          <a:prstGeom prst="roundRect">
            <a:avLst>
              <a:gd name="adj" fmla="val 6250"/>
            </a:avLst>
          </a:prstGeom>
          <a:solidFill>
            <a:srgbClr val="F4F2F8"/>
          </a:solidFill>
          <a:ln/>
        </p:spPr>
      </p:sp>
      <p:pic>
        <p:nvPicPr>
          <p:cNvPr id="34" name="Image 3" descr="images/vivanzeden_jp_ref3.jpg">
            <a:hlinkClick r:id="rId11" tooltip="https://www.youtube.com/watch?v=doS0m4KjHQU"/>
      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452360" y="5321808"/>
            <a:ext cx="1133856" cy="84124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8787384" y="5312664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Vivanz Eden「透明」Music Video（松浦航大コラボ・15万再生）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6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歌い手／ボーカリスト文脈での評価。外部との噛み合わせ。</a:t>
            </a:r>
            <a:endParaRPr lang="en-US" sz="950" dirty="0"/>
          </a:p>
        </p:txBody>
      </p:sp>
      <p:sp>
        <p:nvSpPr>
          <p:cNvPr id="36" name="Text 30">
            <a:hlinkClick r:id="rId12" tooltip="https://www.youtube.com/watch?v=doS0m4KjHQU"/>
          </p:cNvPr>
          <p:cNvSpPr/>
          <p:nvPr/>
        </p:nvSpPr>
        <p:spPr>
          <a:xfrm>
            <a:off x="8787384" y="602589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invalidUrl="" action="" tgtFrame="" tooltip="https://www.youtube.com/watch?v=doS0m4KjHQU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動画を開く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548640" y="627278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意点：前回（2025/7/22）当部門から提出済み案件のため、今回は「菊地のボーカル軸」という切り口の違いを明確にする必要あり。バンド内の合意形成（座組変更を受け入れられるか）と、8月ワンマン後の他社接触リスクが論点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3AB7C9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786384" cy="786384"/>
          </a:xfrm>
          <a:prstGeom prst="ellipse">
            <a:avLst/>
          </a:prstGeom>
          <a:solidFill>
            <a:srgbClr val="3AB7C9"/>
          </a:solidFill>
          <a:ln w="12700">
            <a:solidFill>
              <a:srgbClr val="3AB7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42062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Ryudai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54480" y="9875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リュウダイ／青木龍大　｜　ダンサー・振付／ソロ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75320" y="512064"/>
            <a:ext cx="3337560" cy="694944"/>
          </a:xfrm>
          <a:prstGeom prst="roundRect">
            <a:avLst>
              <a:gd name="adj" fmla="val 13158"/>
            </a:avLst>
          </a:prstGeom>
          <a:solidFill>
            <a:srgbClr val="271C47"/>
          </a:solidFill>
          <a:ln/>
        </p:spPr>
      </p:sp>
      <p:sp>
        <p:nvSpPr>
          <p:cNvPr id="8" name="Text 6"/>
          <p:cNvSpPr/>
          <p:nvPr/>
        </p:nvSpPr>
        <p:spPr>
          <a:xfrm>
            <a:off x="8458200" y="566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契約ステータス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458200" y="7863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レーベル未所属（音源リリースなし・ダンサーとして活動）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705088" y="1591056"/>
            <a:ext cx="2980944" cy="3035808"/>
          </a:xfrm>
          <a:prstGeom prst="roundRect">
            <a:avLst>
              <a:gd name="adj" fmla="val 1840"/>
            </a:avLst>
          </a:prstGeom>
          <a:solidFill>
            <a:srgbClr val="271C47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images/ryudai_a_portrai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78240" y="1664208"/>
            <a:ext cx="2834640" cy="28895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164592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3A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1本で5,430万再生。日本発、世界が真似する側。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48640" y="2633472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C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200万フォロワー。2年で到達、いまも毎日50万再生が立つ。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3035808"/>
            <a:ext cx="80010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日韓ハーフのダンサー／振付師。2024年3月開設のTikTokで2026年7月に200万フォロワー到達、総いいね1億3,350万。最大再生は1本で5,430万。K-POP勢（CORTIS）や edhiii boi・千葉雄喜の楽曲でのコンテンツを持ち、音源を“当てる側”として完成している。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736592"/>
            <a:ext cx="2615184" cy="1463040"/>
          </a:xfrm>
          <a:prstGeom prst="roundRect">
            <a:avLst>
              <a:gd name="adj" fmla="val 5000"/>
            </a:avLst>
          </a:prstGeom>
          <a:solidFill>
            <a:srgbClr val="271C47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94944" y="48646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A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200万</a:t>
            </a:r>
            <a:endParaRPr lang="en-US" sz="2500" dirty="0"/>
          </a:p>
        </p:txBody>
      </p:sp>
      <p:sp>
        <p:nvSpPr>
          <p:cNvPr id="17" name="Text 14"/>
          <p:cNvSpPr/>
          <p:nvPr/>
        </p:nvSpPr>
        <p:spPr>
          <a:xfrm>
            <a:off x="694944" y="5413248"/>
            <a:ext cx="2322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TikTokフォロワー（2026/7/21到達）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364992" y="4736592"/>
            <a:ext cx="2615184" cy="1463040"/>
          </a:xfrm>
          <a:prstGeom prst="roundRect">
            <a:avLst>
              <a:gd name="adj" fmla="val 5000"/>
            </a:avLst>
          </a:prstGeom>
          <a:solidFill>
            <a:srgbClr val="271C47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511296" y="48646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A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5,430万</a:t>
            </a:r>
            <a:endParaRPr lang="en-US" sz="2500" dirty="0"/>
          </a:p>
        </p:txBody>
      </p:sp>
      <p:sp>
        <p:nvSpPr>
          <p:cNvPr id="20" name="Text 17"/>
          <p:cNvSpPr/>
          <p:nvPr/>
        </p:nvSpPr>
        <p:spPr>
          <a:xfrm>
            <a:off x="3511296" y="5413248"/>
            <a:ext cx="2322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最大再生（1本）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181344" y="4736592"/>
            <a:ext cx="2615184" cy="1463040"/>
          </a:xfrm>
          <a:prstGeom prst="roundRect">
            <a:avLst>
              <a:gd name="adj" fmla="val 5000"/>
            </a:avLst>
          </a:prstGeom>
          <a:solidFill>
            <a:srgbClr val="271C47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327648" y="48646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A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1億3,350万</a:t>
            </a:r>
            <a:endParaRPr lang="en-US" sz="2500" dirty="0"/>
          </a:p>
        </p:txBody>
      </p:sp>
      <p:sp>
        <p:nvSpPr>
          <p:cNvPr id="23" name="Text 20"/>
          <p:cNvSpPr/>
          <p:nvPr/>
        </p:nvSpPr>
        <p:spPr>
          <a:xfrm>
            <a:off x="6327648" y="5413248"/>
            <a:ext cx="2322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総いいね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997696" y="4736592"/>
            <a:ext cx="2615184" cy="1463040"/>
          </a:xfrm>
          <a:prstGeom prst="roundRect">
            <a:avLst>
              <a:gd name="adj" fmla="val 5000"/>
            </a:avLst>
          </a:prstGeom>
          <a:solidFill>
            <a:srgbClr val="271C47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144000" y="48646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A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13〜18%</a:t>
            </a:r>
            <a:endParaRPr lang="en-US" sz="2500" dirty="0"/>
          </a:p>
        </p:txBody>
      </p:sp>
      <p:sp>
        <p:nvSpPr>
          <p:cNvPr id="26" name="Text 23"/>
          <p:cNvSpPr/>
          <p:nvPr/>
        </p:nvSpPr>
        <p:spPr>
          <a:xfrm>
            <a:off x="9144000" y="5413248"/>
            <a:ext cx="2322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直近エンゲージ率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RYUDAI —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フォロワー実数と音楽性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0" cy="402336"/>
          </a:xfrm>
          <a:prstGeom prst="rect">
            <a:avLst/>
          </a:prstGeom>
          <a:solidFill>
            <a:srgbClr val="2E2350"/>
          </a:solidFill>
          <a:ln w="9525">
            <a:solidFill>
              <a:srgbClr val="E2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81328"/>
            <a:ext cx="90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媒体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73352" y="1481328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アカウント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50792" y="1481328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規模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83664"/>
            <a:ext cx="5029200" cy="402336"/>
          </a:xfrm>
          <a:prstGeom prst="rect">
            <a:avLst/>
          </a:prstGeom>
          <a:solidFill>
            <a:srgbClr val="F4F2F8"/>
          </a:solidFill>
          <a:ln w="9525">
            <a:solidFill>
              <a:srgbClr val="E2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83664"/>
            <a:ext cx="90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73352" y="1883664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@ryudai_a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50792" y="1883664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フォロワー 200万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5029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286000"/>
            <a:ext cx="90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73352" y="2286000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@ryudai_a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50792" y="2286000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登録者 2.73万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688336"/>
            <a:ext cx="5029200" cy="402336"/>
          </a:xfrm>
          <a:prstGeom prst="rect">
            <a:avLst/>
          </a:prstGeom>
          <a:solidFill>
            <a:srgbClr val="F4F2F8"/>
          </a:solidFill>
          <a:ln w="9525">
            <a:solidFill>
              <a:srgbClr val="E2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688336"/>
            <a:ext cx="90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673352" y="2688336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@ryudai_a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050792" y="2688336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フォロワー 約13.1万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090672"/>
            <a:ext cx="5029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090672"/>
            <a:ext cx="90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Twitch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73352" y="3090672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ryudai_a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050792" y="3090672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A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F4F2F8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3877056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この規模で注目すべき数字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3232" y="4133088"/>
            <a:ext cx="4700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200万　TikTokフォロワー（2026/7/21到達）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5,430万　最大再生（1本）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1億3,350万　総いいね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13〜18%　直近エンゲージ率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35040" y="14813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音楽性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35040" y="1847088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F4F2F8"/>
          </a:solidFill>
          <a:ln/>
        </p:spPr>
      </p:sp>
      <p:sp>
        <p:nvSpPr>
          <p:cNvPr id="29" name="Shape 27"/>
          <p:cNvSpPr/>
          <p:nvPr/>
        </p:nvSpPr>
        <p:spPr>
          <a:xfrm>
            <a:off x="6181344" y="1993392"/>
            <a:ext cx="237744" cy="237744"/>
          </a:xfrm>
          <a:prstGeom prst="ellipse">
            <a:avLst/>
          </a:prstGeom>
          <a:solidFill>
            <a:srgbClr val="3AB7C9"/>
          </a:solidFill>
          <a:ln/>
        </p:spPr>
      </p:sp>
      <p:sp>
        <p:nvSpPr>
          <p:cNvPr id="30" name="Text 28"/>
          <p:cNvSpPr/>
          <p:nvPr/>
        </p:nvSpPr>
        <p:spPr>
          <a:xfrm>
            <a:off x="6181344" y="1993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1956816"/>
            <a:ext cx="495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本人名義の音源リリースはまだ無い。現状の“音楽性”は、どの曲でバズを作れているかで読むのが正しい。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35040" y="2871216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F4F2F8"/>
          </a:solidFill>
          <a:ln/>
        </p:spPr>
      </p:sp>
      <p:sp>
        <p:nvSpPr>
          <p:cNvPr id="33" name="Shape 31"/>
          <p:cNvSpPr/>
          <p:nvPr/>
        </p:nvSpPr>
        <p:spPr>
          <a:xfrm>
            <a:off x="6181344" y="3017520"/>
            <a:ext cx="237744" cy="237744"/>
          </a:xfrm>
          <a:prstGeom prst="ellipse">
            <a:avLst/>
          </a:prstGeom>
          <a:solidFill>
            <a:srgbClr val="3AB7C9"/>
          </a:solidFill>
          <a:ln/>
        </p:spPr>
      </p:sp>
      <p:sp>
        <p:nvSpPr>
          <p:cNvPr id="34" name="Text 32"/>
          <p:cNvSpPr/>
          <p:nvPr/>
        </p:nvSpPr>
        <p:spPr>
          <a:xfrm>
            <a:off x="6181344" y="3017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2980944"/>
            <a:ext cx="495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主戦場はK-POP／ヒップホップ／ファンク。CORTIS「YOUNGCREATORCREW」動画で1,110万再生、edhiii boi「Uiteru」で860万再生、千葉雄喜・JENNIE系のトレンドにも継続的に乗っている。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35040" y="3895344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F4F2F8"/>
          </a:solidFill>
          <a:ln/>
        </p:spPr>
      </p:sp>
      <p:sp>
        <p:nvSpPr>
          <p:cNvPr id="37" name="Shape 35"/>
          <p:cNvSpPr/>
          <p:nvPr/>
        </p:nvSpPr>
        <p:spPr>
          <a:xfrm>
            <a:off x="6181344" y="4041648"/>
            <a:ext cx="237744" cy="237744"/>
          </a:xfrm>
          <a:prstGeom prst="ellipse">
            <a:avLst/>
          </a:prstGeom>
          <a:solidFill>
            <a:srgbClr val="3AB7C9"/>
          </a:solidFill>
          <a:ln/>
        </p:spPr>
      </p:sp>
      <p:sp>
        <p:nvSpPr>
          <p:cNvPr id="38" name="Text 36"/>
          <p:cNvSpPr/>
          <p:nvPr/>
        </p:nvSpPr>
        <p:spPr>
          <a:xfrm>
            <a:off x="6181344" y="4041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4005072"/>
            <a:ext cx="495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直近の使用音源はスペイン語・ポルトガル語・インドネシア語圏のトラックが中心。日本人アカウントだが、回っている音源はほぼ海外＝オーガニックに海外リーチを持っている。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035040" y="4919472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F4F2F8"/>
          </a:solidFill>
          <a:ln/>
        </p:spPr>
      </p:sp>
      <p:sp>
        <p:nvSpPr>
          <p:cNvPr id="41" name="Shape 39"/>
          <p:cNvSpPr/>
          <p:nvPr/>
        </p:nvSpPr>
        <p:spPr>
          <a:xfrm>
            <a:off x="6181344" y="5065776"/>
            <a:ext cx="237744" cy="237744"/>
          </a:xfrm>
          <a:prstGeom prst="ellipse">
            <a:avLst/>
          </a:prstGeom>
          <a:solidFill>
            <a:srgbClr val="3AB7C9"/>
          </a:solidFill>
          <a:ln/>
        </p:spPr>
      </p:sp>
      <p:sp>
        <p:nvSpPr>
          <p:cNvPr id="42" name="Text 40"/>
          <p:cNvSpPr/>
          <p:nvPr/>
        </p:nvSpPr>
        <p:spPr>
          <a:xfrm>
            <a:off x="6181344" y="50657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92240" y="5029200"/>
            <a:ext cx="495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経歴面ではダンススタジオの講師業、振付、そして iCON Z（LDH）男性部門2次審査合格。オーディション／育成のフローに耐性がある。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RYUDAI —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何が魅力なのか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22392" cy="1298448"/>
          </a:xfrm>
          <a:prstGeom prst="roundRect">
            <a:avLst>
              <a:gd name="adj" fmla="val 5634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55064"/>
            <a:ext cx="310896" cy="310896"/>
          </a:xfrm>
          <a:prstGeom prst="ellipse">
            <a:avLst/>
          </a:prstGeom>
          <a:solidFill>
            <a:srgbClr val="3AB7C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55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627632"/>
            <a:ext cx="45994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200万規模でER 13〜18%は異常値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通常この規模は数%まで落ちる。直近30日でも99万／64万／57万／44万と毎日数十万が立っており、“昔バズった人”ではなく現役の稼働資産。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0488" y="1463040"/>
            <a:ext cx="5422392" cy="1298448"/>
          </a:xfrm>
          <a:prstGeom prst="roundRect">
            <a:avLst>
              <a:gd name="adj" fmla="val 5634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73368" y="1655064"/>
            <a:ext cx="310896" cy="310896"/>
          </a:xfrm>
          <a:prstGeom prst="ellipse">
            <a:avLst/>
          </a:prstGeom>
          <a:solidFill>
            <a:srgbClr val="3AB7C9"/>
          </a:solidFill>
          <a:ln/>
        </p:spPr>
      </p:sp>
      <p:sp>
        <p:nvSpPr>
          <p:cNvPr id="10" name="Text 8"/>
          <p:cNvSpPr/>
          <p:nvPr/>
        </p:nvSpPr>
        <p:spPr>
          <a:xfrm>
            <a:off x="6373368" y="1655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30568" y="1627632"/>
            <a:ext cx="45994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海外リーチが本物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5,430万再生の1本は海外クリエイターとの共演。使用音源も海外トラック中心で、日本国内アカウントとしては珍しい構造。日本発でグローバルに出す座組にそのまま乗る。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80944"/>
            <a:ext cx="5422392" cy="1298448"/>
          </a:xfrm>
          <a:prstGeom prst="roundRect">
            <a:avLst>
              <a:gd name="adj" fmla="val 5634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172968"/>
            <a:ext cx="310896" cy="310896"/>
          </a:xfrm>
          <a:prstGeom prst="ellipse">
            <a:avLst/>
          </a:prstGeom>
          <a:solidFill>
            <a:srgbClr val="3AB7C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145536"/>
            <a:ext cx="45994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K-POP文脈で戦える身体と顔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CORTIS との共演が1,110万再生。K-POP側のフォーマットで違和感がなく、日韓ハーフというバックグラウンドも噛み合っている。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0488" y="2980944"/>
            <a:ext cx="5422392" cy="1298448"/>
          </a:xfrm>
          <a:prstGeom prst="roundRect">
            <a:avLst>
              <a:gd name="adj" fmla="val 5634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73368" y="3172968"/>
            <a:ext cx="310896" cy="310896"/>
          </a:xfrm>
          <a:prstGeom prst="ellipse">
            <a:avLst/>
          </a:prstGeom>
          <a:solidFill>
            <a:srgbClr val="3AB7C9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30568" y="3145536"/>
            <a:ext cx="45994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作る側の技術がある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振付・講師業をしている＝自分のコンテンツを設計できる。アーティスト化した場合、パフォーマンス面の外注コストが低い。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26864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2E2350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" y="4791456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いま起きている“詰まり”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5102352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リーチは完成しているのに、音楽側の資産がゼロ。TikTok 200万に対しYouTube 2.73万・音源0本＝マネタイズ動線が丸ごと空いている。逆に言えば、我々が最初に音源を持たせられれば、初速の露出は最初から数十万〜数百万で確保できる。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AB7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RYUDAI —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ヒットへの手がかり ／ 参考動画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レーベルは何をしたら売れるか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56232"/>
            <a:ext cx="310896" cy="310896"/>
          </a:xfrm>
          <a:prstGeom prst="ellipse">
            <a:avLst/>
          </a:prstGeom>
          <a:solidFill>
            <a:srgbClr val="3AB7C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56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まず“楽曲を当てる装置”として関係を作る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アーティスト化の前段として、既存アーティストのタイアップ／プロモ枠で契約。実績と信頼を作りながら、こちらの制作力を見せる。最短で数字が出て、社内稟議も通しやすい。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52344"/>
            <a:ext cx="310896" cy="310896"/>
          </a:xfrm>
          <a:prstGeom prst="ellipse">
            <a:avLst/>
          </a:prstGeom>
          <a:solidFill>
            <a:srgbClr val="3AB7C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724912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本命はダンス×ボーカルのソロ／ユニット化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 Z 2次審査通過という下地がある。ボイストレーニングを入れて、パフォーマンス主導型のソロ、または次にご紹介する yuuna を含むユニットとして設計する。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48456"/>
            <a:ext cx="310896" cy="310896"/>
          </a:xfrm>
          <a:prstGeom prst="ellipse">
            <a:avLst/>
          </a:prstGeom>
          <a:solidFill>
            <a:srgbClr val="3AB7C9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621024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海外先行リリース設計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回っている音源が海外トラック＝リスナーの重心が海外。日本語1本に絞らず、英語／韓国語を混ぜた曲でグローバル配信を先に置く。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44568"/>
            <a:ext cx="310896" cy="310896"/>
          </a:xfrm>
          <a:prstGeom prst="ellipse">
            <a:avLst/>
          </a:prstGeom>
          <a:solidFill>
            <a:srgbClr val="3AB7C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517136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振付クレジットで社内に還流させる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自社アーティストの振付・ダンスディレクションで起用。彼のアカウントが宣伝チャネルとして同時に効くため、1本の発注で2つのリターンがある。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440680"/>
            <a:ext cx="310896" cy="310896"/>
          </a:xfrm>
          <a:prstGeom prst="ellipse">
            <a:avLst/>
          </a:prstGeom>
          <a:solidFill>
            <a:srgbClr val="3AB7C9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5413248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囲い込みを急ぐ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2年で200万・海外案件を自力で取れている段階。他社（特にダンス／グローバル系）が先に動く前提でスピード優先。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60920" y="14630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おすすめ参考動画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360920" y="1828800"/>
            <a:ext cx="4251960" cy="1024128"/>
          </a:xfrm>
          <a:prstGeom prst="roundRect">
            <a:avLst>
              <a:gd name="adj" fmla="val 6250"/>
            </a:avLst>
          </a:prstGeom>
          <a:solidFill>
            <a:srgbClr val="F4F2F8"/>
          </a:solidFill>
          <a:ln/>
        </p:spPr>
      </p:sp>
      <p:pic>
        <p:nvPicPr>
          <p:cNvPr id="22" name="Image 0" descr="images/ryudai_a_ref0.jpg">
            <a:hlinkClick r:id="rId2" tooltip="https://www.tiktok.com/@ryudai_a/video/7562880832323456263"/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1920240"/>
            <a:ext cx="1133856" cy="84124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787384" y="1911096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【本命】5,430万再生の1本（TikTok・いいね620万／保存47.8万）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6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到達力の証明。この1本の数字だけで説明が終わる。</a:t>
            </a:r>
            <a:endParaRPr lang="en-US" sz="950" dirty="0"/>
          </a:p>
        </p:txBody>
      </p:sp>
      <p:sp>
        <p:nvSpPr>
          <p:cNvPr id="24" name="Text 21">
            <a:hlinkClick r:id="rId3" tooltip="https://www.tiktok.com/@ryudai_a/video/7562880832323456263"/>
          </p:cNvPr>
          <p:cNvSpPr/>
          <p:nvPr/>
        </p:nvSpPr>
        <p:spPr>
          <a:xfrm>
            <a:off x="8787384" y="262432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https://www.tiktok.com/@ryudai_a/video/7562880832323456263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動画を開く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360920" y="2962656"/>
            <a:ext cx="4251960" cy="1024128"/>
          </a:xfrm>
          <a:prstGeom prst="roundRect">
            <a:avLst>
              <a:gd name="adj" fmla="val 6250"/>
            </a:avLst>
          </a:prstGeom>
          <a:solidFill>
            <a:srgbClr val="F4F2F8"/>
          </a:solidFill>
          <a:ln/>
        </p:spPr>
      </p:sp>
      <p:pic>
        <p:nvPicPr>
          <p:cNvPr id="26" name="Image 1" descr="images/ryudai_a_ref1.jpg">
            <a:hlinkClick r:id="rId5" tooltip="https://www.tiktok.com/@ryudai_a/video/7618798329471765768"/>
      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52360" y="3054096"/>
            <a:ext cx="1133856" cy="84124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87384" y="304495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CORTIS との共演（TikTok・1,110万再生／ER 16.2%）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6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K-POPフォーマットでの成立。アーティスト化の絵が見える。</a:t>
            </a:r>
            <a:endParaRPr lang="en-US" sz="950" dirty="0"/>
          </a:p>
        </p:txBody>
      </p:sp>
      <p:sp>
        <p:nvSpPr>
          <p:cNvPr id="28" name="Text 24">
            <a:hlinkClick r:id="rId6" tooltip="https://www.tiktok.com/@ryudai_a/video/7618798329471765768"/>
          </p:cNvPr>
          <p:cNvSpPr/>
          <p:nvPr/>
        </p:nvSpPr>
        <p:spPr>
          <a:xfrm>
            <a:off x="8787384" y="375818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https://www.tiktok.com/@ryudai_a/video/7618798329471765768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動画を開く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7360920" y="4096512"/>
            <a:ext cx="4251960" cy="1024128"/>
          </a:xfrm>
          <a:prstGeom prst="roundRect">
            <a:avLst>
              <a:gd name="adj" fmla="val 6250"/>
            </a:avLst>
          </a:prstGeom>
          <a:solidFill>
            <a:srgbClr val="F4F2F8"/>
          </a:solidFill>
          <a:ln/>
        </p:spPr>
      </p:sp>
      <p:pic>
        <p:nvPicPr>
          <p:cNvPr id="30" name="Image 2" descr="images/ryudai_a_ref2.jpg">
            <a:hlinkClick r:id="rId8" tooltip="https://www.tiktok.com/@ryudai_a/video/7478622146684620040"/>
      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452360" y="4187952"/>
            <a:ext cx="1133856" cy="84124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787384" y="4178808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edhiii boi「Uiteru」（TikTok・860万再生）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6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邦楽アーティスト楽曲を当てた実績＝タイアップ時の期待値。</a:t>
            </a:r>
            <a:endParaRPr lang="en-US" sz="950" dirty="0"/>
          </a:p>
        </p:txBody>
      </p:sp>
      <p:sp>
        <p:nvSpPr>
          <p:cNvPr id="32" name="Text 27">
            <a:hlinkClick r:id="rId9" tooltip="https://www.tiktok.com/@ryudai_a/video/7478622146684620040"/>
          </p:cNvPr>
          <p:cNvSpPr/>
          <p:nvPr/>
        </p:nvSpPr>
        <p:spPr>
          <a:xfrm>
            <a:off x="8787384" y="489204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https://www.tiktok.com/@ryudai_a/video/7478622146684620040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動画を開く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7360920" y="5230368"/>
            <a:ext cx="4251960" cy="1024128"/>
          </a:xfrm>
          <a:prstGeom prst="roundRect">
            <a:avLst>
              <a:gd name="adj" fmla="val 6250"/>
            </a:avLst>
          </a:prstGeom>
          <a:solidFill>
            <a:srgbClr val="F4F2F8"/>
          </a:solidFill>
          <a:ln/>
        </p:spPr>
      </p:sp>
      <p:pic>
        <p:nvPicPr>
          <p:cNvPr id="34" name="Image 3" descr="images/ryudai_a_ref3.jpg">
            <a:hlinkClick r:id="rId11" tooltip="https://www.tiktok.com/@ryudai_a/video/7664980799699127560"/>
      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452360" y="5321808"/>
            <a:ext cx="1133856" cy="84124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8787384" y="5312664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200万フォロワー達成投稿（TikTok・64万再生）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6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直近も日常的に数十万が立つことの確認。</a:t>
            </a:r>
            <a:endParaRPr lang="en-US" sz="950" dirty="0"/>
          </a:p>
        </p:txBody>
      </p:sp>
      <p:sp>
        <p:nvSpPr>
          <p:cNvPr id="36" name="Text 30">
            <a:hlinkClick r:id="rId12" tooltip="https://www.tiktok.com/@ryudai_a/video/7664980799699127560"/>
          </p:cNvPr>
          <p:cNvSpPr/>
          <p:nvPr/>
        </p:nvSpPr>
        <p:spPr>
          <a:xfrm>
            <a:off x="8787384" y="602589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invalidUrl="" action="" tgtFrame="" tooltip="https://www.tiktok.com/@ryudai_a/video/7664980799699127560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動画を開く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548640" y="627278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留意点：音源経験ゼロ＝歌唱面は未検証。まずボイトレ込みのデモ録りで見極めるのが前提。年齢・所属（スタジオ／事務所）の確認も先に。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FFB020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786384" cy="786384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554480" y="42062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yuuna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54480" y="9875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9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ユウナ　｜　ダンサー／ソロ・大阪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275320" y="512064"/>
            <a:ext cx="3337560" cy="694944"/>
          </a:xfrm>
          <a:prstGeom prst="roundRect">
            <a:avLst>
              <a:gd name="adj" fmla="val 13158"/>
            </a:avLst>
          </a:prstGeom>
          <a:solidFill>
            <a:srgbClr val="271C47"/>
          </a:solidFill>
          <a:ln/>
        </p:spPr>
      </p:sp>
      <p:sp>
        <p:nvSpPr>
          <p:cNvPr id="8" name="Text 6"/>
          <p:cNvSpPr/>
          <p:nvPr/>
        </p:nvSpPr>
        <p:spPr>
          <a:xfrm>
            <a:off x="8458200" y="56692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契約ステータス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458200" y="78638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レーベル未所属（音源リリースなし・ダンサーとして活動）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705088" y="1591056"/>
            <a:ext cx="2980944" cy="3035808"/>
          </a:xfrm>
          <a:prstGeom prst="roundRect">
            <a:avLst>
              <a:gd name="adj" fmla="val 1840"/>
            </a:avLst>
          </a:prstGeom>
          <a:solidFill>
            <a:srgbClr val="271C47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pic>
        <p:nvPicPr>
          <p:cNvPr id="11" name="Image 0" descr="images/yuuna_alt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78240" y="1664208"/>
            <a:ext cx="2834640" cy="28895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48640" y="1645920"/>
            <a:ext cx="800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エンゲージ率22%。無言でも回る。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48640" y="2633472"/>
            <a:ext cx="8001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DCD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180万・総いいね1億3,620万。キャプションゼロで毎日20万再生。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48640" y="3035808"/>
            <a:ext cx="80010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C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大阪拠点のダンサー。TikTok 180万フォロワー、総いいね1億3,620万。ブラジリアン・ファンク系トラックでのダンスが主戦場で、直近投稿のエンゲージ率は18.9〜27.9%（平均約22%）という規模外れの数値。K-POP練習生経験あり。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4736592"/>
            <a:ext cx="2615184" cy="1463040"/>
          </a:xfrm>
          <a:prstGeom prst="roundRect">
            <a:avLst>
              <a:gd name="adj" fmla="val 5000"/>
            </a:avLst>
          </a:prstGeom>
          <a:solidFill>
            <a:srgbClr val="271C47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94944" y="48646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180万</a:t>
            </a:r>
            <a:endParaRPr lang="en-US" sz="2500" dirty="0"/>
          </a:p>
        </p:txBody>
      </p:sp>
      <p:sp>
        <p:nvSpPr>
          <p:cNvPr id="17" name="Text 14"/>
          <p:cNvSpPr/>
          <p:nvPr/>
        </p:nvSpPr>
        <p:spPr>
          <a:xfrm>
            <a:off x="694944" y="5413248"/>
            <a:ext cx="2322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TikTokフォロワー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364992" y="4736592"/>
            <a:ext cx="2615184" cy="1463040"/>
          </a:xfrm>
          <a:prstGeom prst="roundRect">
            <a:avLst>
              <a:gd name="adj" fmla="val 5000"/>
            </a:avLst>
          </a:prstGeom>
          <a:solidFill>
            <a:srgbClr val="271C47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3511296" y="48646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約22%</a:t>
            </a:r>
            <a:endParaRPr lang="en-US" sz="2500" dirty="0"/>
          </a:p>
        </p:txBody>
      </p:sp>
      <p:sp>
        <p:nvSpPr>
          <p:cNvPr id="20" name="Text 17"/>
          <p:cNvSpPr/>
          <p:nvPr/>
        </p:nvSpPr>
        <p:spPr>
          <a:xfrm>
            <a:off x="3511296" y="5413248"/>
            <a:ext cx="2322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直近平均エンゲージ率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181344" y="4736592"/>
            <a:ext cx="2615184" cy="1463040"/>
          </a:xfrm>
          <a:prstGeom prst="roundRect">
            <a:avLst>
              <a:gd name="adj" fmla="val 5000"/>
            </a:avLst>
          </a:prstGeom>
          <a:solidFill>
            <a:srgbClr val="271C47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327648" y="48646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1億3,620万</a:t>
            </a:r>
            <a:endParaRPr lang="en-US" sz="2500" dirty="0"/>
          </a:p>
        </p:txBody>
      </p:sp>
      <p:sp>
        <p:nvSpPr>
          <p:cNvPr id="23" name="Text 20"/>
          <p:cNvSpPr/>
          <p:nvPr/>
        </p:nvSpPr>
        <p:spPr>
          <a:xfrm>
            <a:off x="6327648" y="5413248"/>
            <a:ext cx="2322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総いいね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8997696" y="4736592"/>
            <a:ext cx="2615184" cy="1463040"/>
          </a:xfrm>
          <a:prstGeom prst="roundRect">
            <a:avLst>
              <a:gd name="adj" fmla="val 5000"/>
            </a:avLst>
          </a:prstGeom>
          <a:solidFill>
            <a:srgbClr val="271C47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144000" y="48646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260万</a:t>
            </a:r>
            <a:endParaRPr lang="en-US" sz="2500" dirty="0"/>
          </a:p>
        </p:txBody>
      </p:sp>
      <p:sp>
        <p:nvSpPr>
          <p:cNvPr id="26" name="Text 23"/>
          <p:cNvSpPr/>
          <p:nvPr/>
        </p:nvSpPr>
        <p:spPr>
          <a:xfrm>
            <a:off x="9144000" y="5413248"/>
            <a:ext cx="232257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9A4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最大再生（1本）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YUUNA — 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フォロワー実数と音楽性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029200" cy="402336"/>
          </a:xfrm>
          <a:prstGeom prst="rect">
            <a:avLst/>
          </a:prstGeom>
          <a:solidFill>
            <a:srgbClr val="2E2350"/>
          </a:solidFill>
          <a:ln w="9525">
            <a:solidFill>
              <a:srgbClr val="E2E0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481328"/>
            <a:ext cx="90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媒体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73352" y="1481328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アカウント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050792" y="1481328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規模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883664"/>
            <a:ext cx="5029200" cy="402336"/>
          </a:xfrm>
          <a:prstGeom prst="rect">
            <a:avLst/>
          </a:prstGeom>
          <a:solidFill>
            <a:srgbClr val="F4F2F8"/>
          </a:solidFill>
          <a:ln w="9525">
            <a:solidFill>
              <a:srgbClr val="E2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83664"/>
            <a:ext cx="90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73352" y="1883664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@likekyuuna_s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050792" y="1883664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フォロワー 180万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502920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E2E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286000"/>
            <a:ext cx="90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73352" y="2286000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@likekyuuna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50792" y="2286000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フォロワー 約46.2万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688336"/>
            <a:ext cx="5029200" cy="402336"/>
          </a:xfrm>
          <a:prstGeom prst="rect">
            <a:avLst/>
          </a:prstGeom>
          <a:solidFill>
            <a:srgbClr val="F4F2F8"/>
          </a:solidFill>
          <a:ln w="9525">
            <a:solidFill>
              <a:srgbClr val="E2E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688336"/>
            <a:ext cx="9052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連絡先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673352" y="2688336"/>
            <a:ext cx="22311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yuuna.cerl@icloud.com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050792" y="2688336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346704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F4F2F8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474720"/>
            <a:ext cx="4700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この規模で注目すべき数字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13232" y="3730752"/>
            <a:ext cx="4700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180万　TikTokフォロワー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約22%　直近平均エンゲージ率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1億3,620万　総いいね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260万　最大再生（1本）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035040" y="14813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音楽性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035040" y="1847088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F4F2F8"/>
          </a:solidFill>
          <a:ln/>
        </p:spPr>
      </p:sp>
      <p:sp>
        <p:nvSpPr>
          <p:cNvPr id="25" name="Shape 23"/>
          <p:cNvSpPr/>
          <p:nvPr/>
        </p:nvSpPr>
        <p:spPr>
          <a:xfrm>
            <a:off x="6181344" y="1993392"/>
            <a:ext cx="237744" cy="23774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6" name="Text 24"/>
          <p:cNvSpPr/>
          <p:nvPr/>
        </p:nvSpPr>
        <p:spPr>
          <a:xfrm>
            <a:off x="6181344" y="19933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1956816"/>
            <a:ext cx="495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本人名義の音源リリースはまだ無い。使用音源から読める嗜好は、ブラジリアン・ファンク／ラテン／ヒップホップ／K-POP。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35040" y="2871216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F4F2F8"/>
          </a:solidFill>
          <a:ln/>
        </p:spPr>
      </p:sp>
      <p:sp>
        <p:nvSpPr>
          <p:cNvPr id="29" name="Shape 27"/>
          <p:cNvSpPr/>
          <p:nvPr/>
        </p:nvSpPr>
        <p:spPr>
          <a:xfrm>
            <a:off x="6181344" y="3017520"/>
            <a:ext cx="237744" cy="23774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0" name="Text 28"/>
          <p:cNvSpPr/>
          <p:nvPr/>
        </p:nvSpPr>
        <p:spPr>
          <a:xfrm>
            <a:off x="6181344" y="30175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92240" y="2980944"/>
            <a:ext cx="495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「Dame Tu Cosita」系のファンク・トレンドで37.7万再生、以降も海外クリエイターの原曲でコンスタントに20万台を出している。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35040" y="3895344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F4F2F8"/>
          </a:solidFill>
          <a:ln/>
        </p:spPr>
      </p:sp>
      <p:sp>
        <p:nvSpPr>
          <p:cNvPr id="33" name="Shape 31"/>
          <p:cNvSpPr/>
          <p:nvPr/>
        </p:nvSpPr>
        <p:spPr>
          <a:xfrm>
            <a:off x="6181344" y="4041648"/>
            <a:ext cx="237744" cy="23774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4" name="Text 32"/>
          <p:cNvSpPr/>
          <p:nvPr/>
        </p:nvSpPr>
        <p:spPr>
          <a:xfrm>
            <a:off x="6181344" y="4041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4005072"/>
            <a:ext cx="495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K-POP練習生経験あり。ダンスの精度に加えて“表情の作り方”とファッションが評価されている点が、アイドル／パフォーマー適性として重要。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35040" y="4919472"/>
            <a:ext cx="5577840" cy="914400"/>
          </a:xfrm>
          <a:prstGeom prst="roundRect">
            <a:avLst>
              <a:gd name="adj" fmla="val 7000"/>
            </a:avLst>
          </a:prstGeom>
          <a:solidFill>
            <a:srgbClr val="F4F2F8"/>
          </a:solidFill>
          <a:ln/>
        </p:spPr>
      </p:sp>
      <p:sp>
        <p:nvSpPr>
          <p:cNvPr id="37" name="Shape 35"/>
          <p:cNvSpPr/>
          <p:nvPr/>
        </p:nvSpPr>
        <p:spPr>
          <a:xfrm>
            <a:off x="6181344" y="5065776"/>
            <a:ext cx="237744" cy="23774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8" name="Text 36"/>
          <p:cNvSpPr/>
          <p:nvPr/>
        </p:nvSpPr>
        <p:spPr>
          <a:xfrm>
            <a:off x="6181344" y="50657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92240" y="5029200"/>
            <a:ext cx="49560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コラボ相手は Ryudai、曽根凌輔（ABEMA『今日、好きになりました』）など。国内タレント文脈とも接続がある。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YUUNA — 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何が魅力なのか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22392" cy="1298448"/>
          </a:xfrm>
          <a:prstGeom prst="roundRect">
            <a:avLst>
              <a:gd name="adj" fmla="val 5634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55064"/>
            <a:ext cx="310896" cy="3108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55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88720" y="1627632"/>
            <a:ext cx="45994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エンゲージ率が壊れている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直近投稿で18.9%／20.2%／24.0%／26.6%／27.9%。180万規模でこの数字は、フォロワーが“貼り付いている”ことを意味する。何を出しても届く＝リリース初速の予測が立つ。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90488" y="1463040"/>
            <a:ext cx="5422392" cy="1298448"/>
          </a:xfrm>
          <a:prstGeom prst="roundRect">
            <a:avLst>
              <a:gd name="adj" fmla="val 5634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73368" y="1655064"/>
            <a:ext cx="310896" cy="3108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0" name="Text 8"/>
          <p:cNvSpPr/>
          <p:nvPr/>
        </p:nvSpPr>
        <p:spPr>
          <a:xfrm>
            <a:off x="6373368" y="1655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30568" y="1627632"/>
            <a:ext cx="45994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キャプションなしで回る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直近投稿の大半は説明文が空。企画や煽りに依存せず、本人のパフォーマンスだけで20万再生が立っている。素の商品力が高い。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80944"/>
            <a:ext cx="5422392" cy="1298448"/>
          </a:xfrm>
          <a:prstGeom prst="roundRect">
            <a:avLst>
              <a:gd name="adj" fmla="val 5634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172968"/>
            <a:ext cx="310896" cy="3108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3145536"/>
            <a:ext cx="45994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海外音源での回転＝海外リーチ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ブラジル／ラテン系トラックが主軸で、海外の“Blasian／Asian duo”文脈でも語られている。日本人アーティストとしては珍しい海外オーガニック層。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0488" y="2980944"/>
            <a:ext cx="5422392" cy="1298448"/>
          </a:xfrm>
          <a:prstGeom prst="roundRect">
            <a:avLst>
              <a:gd name="adj" fmla="val 5634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73368" y="3172968"/>
            <a:ext cx="310896" cy="3108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30568" y="3145536"/>
            <a:ext cx="459943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46.2万のビジュアル資産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TikTokの動きだけでなく、静止画で成立する顔とスタイルがある。アーティスト写真／MV／広告ビジュアルにすぐ載せられる。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626864"/>
            <a:ext cx="11064240" cy="1481328"/>
          </a:xfrm>
          <a:prstGeom prst="roundRect">
            <a:avLst>
              <a:gd name="adj" fmla="val 4938"/>
            </a:avLst>
          </a:prstGeom>
          <a:solidFill>
            <a:srgbClr val="2E2350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04672" y="4791456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いま起きている“詰まり”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" y="5102352"/>
            <a:ext cx="1055217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2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億3,620万いいねという到達に対して、音源・チャンネル・グッズといった換金装置が一切ない。YouTubeも未整備。エンゲージ率22%は「出せば必ず聴かれる」状態なので、最初の1曲を我々が作れるかどうかだけが論点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YUUNA —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ヒットへの手がかり ／ 参考動画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446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レーベルは何をしたら売れるか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56232"/>
            <a:ext cx="310896" cy="3108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56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1828800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K-POP練習生経験を活かした本格デビュー設計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既にトレーニングの下地がある。ボーカル／ラップの適性を見極めた上で、パフォーマンス主導型のソロまたはグループ。日本発K-POPフォーマットの枠として企画を通しやすい。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752344"/>
            <a:ext cx="310896" cy="3108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52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724912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ブラジリアン・ファンクをそのまま楽曲に持ち込む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本人が当てているのはファンク／ラテン。日本語詞のJ-POPに寄せるのではなく、回っている音そのものでデビュー曲を作れば、既存フォロワーがそのまま初速になる。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648456"/>
            <a:ext cx="310896" cy="3108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48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621024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関西発の座組で先に押さえる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大阪拠点。関西のライブ／イベント／メディアと組み合わせた地元起点のローンチは、東京発より競合が少なく、コストも軽い。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544568"/>
            <a:ext cx="310896" cy="3108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5445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517136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YouTube／DSPの空白地に先に旗を立てる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現状YouTubeが実質未整備。公式チャンネル開設＋Shorts転載＋DSPプロフィール整備だけで、他社が入る隙を潰せる。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5440680"/>
            <a:ext cx="310896" cy="3108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440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5413248"/>
            <a:ext cx="5989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窓口は本人メール（プロフィール公開）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事務所を介さず直接連絡できる状態。逆に他社も同じ条件でアクセスできるため、接触の早さがそのまま勝敗になる。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60920" y="14630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おすすめ参考動画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360920" y="1828800"/>
            <a:ext cx="4251960" cy="1024128"/>
          </a:xfrm>
          <a:prstGeom prst="roundRect">
            <a:avLst>
              <a:gd name="adj" fmla="val 6250"/>
            </a:avLst>
          </a:prstGeom>
          <a:solidFill>
            <a:srgbClr val="F4F2F8"/>
          </a:solidFill>
          <a:ln/>
        </p:spPr>
      </p:sp>
      <p:pic>
        <p:nvPicPr>
          <p:cNvPr id="22" name="Image 0" descr="images/likekyuuna_s_ref0.jpg">
            <a:hlinkClick r:id="rId2" tooltip="https://www.tiktok.com/@likekyuuna_s/video/7510958181577657607"/>
      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1920240"/>
            <a:ext cx="1133856" cy="84124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787384" y="1911096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【本命】260万再生の1本（TikTok・いいね31.7万）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6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最大バズ。到達の上限が見える。</a:t>
            </a:r>
            <a:endParaRPr lang="en-US" sz="950" dirty="0"/>
          </a:p>
        </p:txBody>
      </p:sp>
      <p:sp>
        <p:nvSpPr>
          <p:cNvPr id="24" name="Text 21">
            <a:hlinkClick r:id="rId3" tooltip="https://www.tiktok.com/@likekyuuna_s/video/7510958181577657607"/>
          </p:cNvPr>
          <p:cNvSpPr/>
          <p:nvPr/>
        </p:nvSpPr>
        <p:spPr>
          <a:xfrm>
            <a:off x="8787384" y="262432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https://www.tiktok.com/@likekyuuna_s/video/7510958181577657607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動画を開く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360920" y="2962656"/>
            <a:ext cx="4251960" cy="1024128"/>
          </a:xfrm>
          <a:prstGeom prst="roundRect">
            <a:avLst>
              <a:gd name="adj" fmla="val 6250"/>
            </a:avLst>
          </a:prstGeom>
          <a:solidFill>
            <a:srgbClr val="F4F2F8"/>
          </a:solidFill>
          <a:ln/>
        </p:spPr>
      </p:sp>
      <p:pic>
        <p:nvPicPr>
          <p:cNvPr id="26" name="Image 1" descr="images/likekyuuna_s_ref1.jpg">
            <a:hlinkClick r:id="rId5" tooltip="https://www.tiktok.com/@likekyuuna_s/video/7665305778932174087"/>
      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52360" y="3054096"/>
            <a:ext cx="1133856" cy="84124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8787384" y="3044952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ファンク・トレンド（TikTok・37.7万再生／ER 18.9%）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6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得意な音の系統。デビュー曲の方向性はここに寄せるべき。</a:t>
            </a:r>
            <a:endParaRPr lang="en-US" sz="950" dirty="0"/>
          </a:p>
        </p:txBody>
      </p:sp>
      <p:sp>
        <p:nvSpPr>
          <p:cNvPr id="28" name="Text 24">
            <a:hlinkClick r:id="rId6" tooltip="https://www.tiktok.com/@likekyuuna_s/video/7665305778932174087"/>
          </p:cNvPr>
          <p:cNvSpPr/>
          <p:nvPr/>
        </p:nvSpPr>
        <p:spPr>
          <a:xfrm>
            <a:off x="8787384" y="375818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https://www.tiktok.com/@likekyuuna_s/video/7665305778932174087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動画を開く</a:t>
            </a:r>
            <a:endParaRPr lang="en-US" sz="800" dirty="0"/>
          </a:p>
        </p:txBody>
      </p:sp>
      <p:sp>
        <p:nvSpPr>
          <p:cNvPr id="29" name="Shape 25"/>
          <p:cNvSpPr/>
          <p:nvPr/>
        </p:nvSpPr>
        <p:spPr>
          <a:xfrm>
            <a:off x="7360920" y="4096512"/>
            <a:ext cx="4251960" cy="1024128"/>
          </a:xfrm>
          <a:prstGeom prst="roundRect">
            <a:avLst>
              <a:gd name="adj" fmla="val 6250"/>
            </a:avLst>
          </a:prstGeom>
          <a:solidFill>
            <a:srgbClr val="F4F2F8"/>
          </a:solidFill>
          <a:ln/>
        </p:spPr>
      </p:sp>
      <p:pic>
        <p:nvPicPr>
          <p:cNvPr id="30" name="Image 2" descr="images/likekyuuna_s_ref2.jpg">
            <a:hlinkClick r:id="rId8" tooltip="https://www.tiktok.com/@likekyuuna_s/video/7666069690829262098"/>
      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452360" y="4187952"/>
            <a:ext cx="1133856" cy="84124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787384" y="4178808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キャプションなしで24.0%（TikTok・24.5万再生）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6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企画に頼らず数字が出ることの証明。この場で一番見せたい指標。</a:t>
            </a:r>
            <a:endParaRPr lang="en-US" sz="950" dirty="0"/>
          </a:p>
        </p:txBody>
      </p:sp>
      <p:sp>
        <p:nvSpPr>
          <p:cNvPr id="32" name="Text 27">
            <a:hlinkClick r:id="rId9" tooltip="https://www.tiktok.com/@likekyuuna_s/video/7666069690829262098"/>
          </p:cNvPr>
          <p:cNvSpPr/>
          <p:nvPr/>
        </p:nvSpPr>
        <p:spPr>
          <a:xfrm>
            <a:off x="8787384" y="489204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https://www.tiktok.com/@likekyuuna_s/video/7666069690829262098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動画を開く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7360920" y="5230368"/>
            <a:ext cx="4251960" cy="1024128"/>
          </a:xfrm>
          <a:prstGeom prst="roundRect">
            <a:avLst>
              <a:gd name="adj" fmla="val 6250"/>
            </a:avLst>
          </a:prstGeom>
          <a:solidFill>
            <a:srgbClr val="F4F2F8"/>
          </a:solidFill>
          <a:ln/>
        </p:spPr>
      </p:sp>
      <p:pic>
        <p:nvPicPr>
          <p:cNvPr id="34" name="Image 3" descr="images/likekyuuna_s_ref3.jpg">
            <a:hlinkClick r:id="rId11" tooltip="https://www.tiktok.com/@likekyuuna_s/video/7666779086928334098"/>
      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452360" y="5321808"/>
            <a:ext cx="1133856" cy="84124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8787384" y="5312664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 27.9%の投稿（TikTok・4.3万再生／いいね1.2万）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00" i="1" dirty="0">
                <a:solidFill>
                  <a:srgbClr val="6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エンゲージの濃さ。ファンダム化の余地。</a:t>
            </a:r>
            <a:endParaRPr lang="en-US" sz="950" dirty="0"/>
          </a:p>
        </p:txBody>
      </p:sp>
      <p:sp>
        <p:nvSpPr>
          <p:cNvPr id="36" name="Text 30">
            <a:hlinkClick r:id="rId12" tooltip="https://www.tiktok.com/@likekyuuna_s/video/7666779086928334098"/>
          </p:cNvPr>
          <p:cNvSpPr/>
          <p:nvPr/>
        </p:nvSpPr>
        <p:spPr>
          <a:xfrm>
            <a:off x="8787384" y="602589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2" invalidUrl="" action="" tgtFrame="" tooltip="https://www.tiktok.com/@likekyuuna_s/video/7666779086928334098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動画を開く</a:t>
            </a:r>
            <a:endParaRPr lang="en-US" sz="800" dirty="0"/>
          </a:p>
        </p:txBody>
      </p:sp>
      <p:sp>
        <p:nvSpPr>
          <p:cNvPr id="37" name="Text 31"/>
          <p:cNvSpPr/>
          <p:nvPr/>
        </p:nvSpPr>
        <p:spPr>
          <a:xfrm>
            <a:off x="548640" y="6272784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留意点：年齢が公開されていないため、契約前に年齢確認（未成年の場合は保護者同意）が必須。Ryudai との関係性については SNS 上で憶測も出ているため、デュオ前提の企画は本人確認を取ってから。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NOTE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Ryudai と yuuna — 別々にご紹介しましたが、同じ方向です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682496"/>
            <a:ext cx="329184" cy="329184"/>
          </a:xfrm>
          <a:prstGeom prst="ellipse">
            <a:avLst/>
          </a:prstGeom>
          <a:solidFill>
            <a:srgbClr val="3AB7C9"/>
          </a:solidFill>
          <a:ln/>
        </p:spPr>
      </p:sp>
      <p:sp>
        <p:nvSpPr>
          <p:cNvPr id="6" name="Text 4"/>
          <p:cNvSpPr/>
          <p:nvPr/>
        </p:nvSpPr>
        <p:spPr>
          <a:xfrm>
            <a:off x="1207008" y="1664208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Ryudai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86384" y="2139696"/>
            <a:ext cx="49194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200万フォロワー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最大再生 5,430万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 Z（LDH）男性部門2次審査合格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日韓ハーフ・振付／ダンス講師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481328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F4F2F8"/>
          </a:solidFill>
          <a:ln/>
          <a:effectLst>
            <a:outerShdw sx="100000" sy="100000" kx="0" ky="0" algn="bl" rotWithShape="0" blurRad="1270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37376" y="1682496"/>
            <a:ext cx="329184" cy="329184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0" name="Text 8"/>
          <p:cNvSpPr/>
          <p:nvPr/>
        </p:nvSpPr>
        <p:spPr>
          <a:xfrm>
            <a:off x="6876288" y="1664208"/>
            <a:ext cx="4517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yuuna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55664" y="2139696"/>
            <a:ext cx="49194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180万フォロワー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最大再生 260万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K-POP練習生経験あり／大阪拠点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46.2万・ビジュアル資産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050792"/>
            <a:ext cx="310896" cy="310896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507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40233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共通点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TikTokを主戦場とする男性ダンサー／レーベル未所属／音源リリースなし／使用音源が海外トラック中心でグローバルにオーガニックなリーチを持つ／K-POPフォーマットとの適性。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828032"/>
            <a:ext cx="310896" cy="310896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828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48006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違い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Ryudai は到達力（1本5,430万）と海外アーティスト共演の実績。yuuna はエンゲージ率（約22%）とビジュアル資産。攻め方が違うため、企画も分けて設計します。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605272"/>
            <a:ext cx="310896" cy="310896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605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55778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扱い方の前提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B37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共演実績はありますが、契約はあくまで個別で進める前提です。ユニット企画は本人確認を取った上での別案として置きます。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追加候補枠（別途リサーチ中）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4F2F8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27632"/>
            <a:ext cx="105521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Ryudai / yuuna と同系統（TikTok を主戦場とするダンサー・パフォーマー型、レーベル未所属、フォロワー数十万〜数百万規模）のアーティストを継続調査中。確定次第、本資料に追記します。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スクリーニング基準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182112"/>
            <a:ext cx="5422392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0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3419856"/>
            <a:ext cx="256032" cy="25603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60704" y="3310128"/>
            <a:ext cx="4745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TikTokフォロワー 30万以上／直近30日でエンゲージ率10%以上を維持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90488" y="3182112"/>
            <a:ext cx="5422392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3419856"/>
            <a:ext cx="256032" cy="25603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3" name="Text 11"/>
          <p:cNvSpPr/>
          <p:nvPr/>
        </p:nvSpPr>
        <p:spPr>
          <a:xfrm>
            <a:off x="6355080" y="34198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02552" y="3310128"/>
            <a:ext cx="4745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レーベル・大手事務所への所属がない（直接窓口が開いている）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096512"/>
            <a:ext cx="5422392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0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4334256"/>
            <a:ext cx="256032" cy="25603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4334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60704" y="4224528"/>
            <a:ext cx="4745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ダンス／パフォーマンス主導で、ボーカル適性が見込める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0488" y="4096512"/>
            <a:ext cx="5422392" cy="7680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0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4334256"/>
            <a:ext cx="256032" cy="256032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4334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02552" y="4224528"/>
            <a:ext cx="47457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C2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使用音源が海外トラック中心＝グローバル展開の初速が期待できる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5138928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2E2350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" y="5266944"/>
            <a:ext cx="10552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この枠は本資料に追記します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04672" y="5559552"/>
            <a:ext cx="10552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6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候補が固まり次第、同じフォーマット（表題／数値／音楽性／魅力／打ち手／参考動画）でスライドを追加し、Googleドキュメント側にも同じ内容を反映します。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71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2A1F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本日のアスク — 3組それぞれ、次の一手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71C47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737360"/>
            <a:ext cx="310896" cy="31089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52144" y="1591056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Vivanz Eden（菊地諒真）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40480" y="1591056"/>
            <a:ext cx="7543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8月ワンマン（8/15大阪・8/28東京）に同行して現場確認したい。前回提出案件のため、菊地個人軸での再提案として扱いたい。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14016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71C47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2670048"/>
            <a:ext cx="310896" cy="310896"/>
          </a:xfrm>
          <a:prstGeom prst="ellipse">
            <a:avLst/>
          </a:prstGeom>
          <a:solidFill>
            <a:srgbClr val="3AB7C9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2144" y="2523744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Ryudai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0" y="2523744"/>
            <a:ext cx="7543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まずタイアップ／プロモ枠での起用から。並行してボイトレ込みのデモ録りを1本。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346704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271C47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602736"/>
            <a:ext cx="310896" cy="31089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602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52144" y="3456432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yuuna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40480" y="3456432"/>
            <a:ext cx="7543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C7C3D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年齢確認を含めた初回コンタクトの許可。窓口は本人メールが公開されているため、着手はすぐ可能。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358384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4D6D">
              <a:alpha val="18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54498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動く順番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5431536"/>
            <a:ext cx="92811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DEB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スピード優先度は Vivanz Eden ＞ yuuna ＞ Ryudai。Vivanz Eden は8月の初ワンマン（8/15・8/28）が両日SOLD OUTで、公演後に他社接触が増える想定のため最優先。yuuna / Ryudai は窓口が公開されており他社も同条件でアクセスできるため、接触の早さがそのまま勝敗になる。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327648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87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本資料の数値は 2026年7月26日 時点で TikTok / YouTube / Spotify および各種公開情報から実地取得したもの。フォロワー数などは各プラットフォームの表示丸めに準拠。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新人アーティスト プレゼンテーション</dc:title>
  <dc:subject>アソシエイテッドレコーズ A&amp;R 新人発表会 提出資料</dc:subject>
  <dc:creator>SMAR1 手塚</dc:creator>
  <cp:lastModifiedBy>SMAR1 手塚</cp:lastModifiedBy>
  <cp:revision>1</cp:revision>
  <dcterms:created xsi:type="dcterms:W3CDTF">2026-07-27T00:23:44Z</dcterms:created>
  <dcterms:modified xsi:type="dcterms:W3CDTF">2026-07-27T00:23:44Z</dcterms:modified>
</cp:coreProperties>
</file>