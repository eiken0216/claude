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2026.07.30 ／ SNSプロジェクトチーム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T.M.Revolution「HOT LIMIT」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Mステ出演連動 SNS施策プラン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C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対象期間：2026年7月30日(木) 〜 8月16日(日)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3252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864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8/7(金) 21:00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52486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5D7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ミュージックステーション出演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4709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3252F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4864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7/10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53128" y="52486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5D7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FIRST TAKE 公開 → 史上最速1,000万再生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4709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3252F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4864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8/7(金)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56448" y="52486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5D7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 公式アカウント開設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9464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この施策のゴールと、勝ち筋3本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81328"/>
            <a:ext cx="10579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KGI｜Mステ放送日を「ピーク」ではなく「踊り場」にする。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810512"/>
            <a:ext cx="10579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燃料も追い風も既に揃っている。今回の仕事は「火をつける」ことではなく、8月後半までUGCが自走するよう「消えないように薪をくべ続ける」こと。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557016" cy="1874520"/>
          </a:xfrm>
          <a:prstGeom prst="roundRect">
            <a:avLst>
              <a:gd name="adj" fmla="val 3902"/>
            </a:avLst>
          </a:prstGeom>
          <a:solidFill>
            <a:srgbClr val="F4F3F1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2651760"/>
            <a:ext cx="402336" cy="402336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素材を配る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8096" y="32004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TFTグリーンバック素材＝二次創作の燃料。「見るコンテンツ」から「使うコンテンツ」へ変える。お題まで指定して投稿ハードルを下げる。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15968" y="2450592"/>
            <a:ext cx="3557016" cy="1874520"/>
          </a:xfrm>
          <a:prstGeom prst="roundRect">
            <a:avLst>
              <a:gd name="adj" fmla="val 3902"/>
            </a:avLst>
          </a:prstGeom>
          <a:solidFill>
            <a:srgbClr val="F4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5424" y="2651760"/>
            <a:ext cx="402336" cy="402336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5" name="Text 13"/>
          <p:cNvSpPr/>
          <p:nvPr/>
        </p:nvSpPr>
        <p:spPr>
          <a:xfrm>
            <a:off x="453542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47488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本人が拾う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35424" y="32004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西川さんのXがUGC最大の増幅装置。口パク騒動の自虐フォーマットは5万いいね超で実証済み。拾われる体験を量産する。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83296" y="2450592"/>
            <a:ext cx="3557016" cy="1874520"/>
          </a:xfrm>
          <a:prstGeom prst="roundRect">
            <a:avLst>
              <a:gd name="adj" fmla="val 3902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2651760"/>
            <a:ext cx="402336" cy="402336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14816" y="2651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日を跨いで撃つ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2752" y="32004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当日一発ではなく「前3日／当日4波／後3日」。さらにお盆（8/11〜16）を第2の山として設計する。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KPI（案）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 のX投稿数／インプレッション（8/7 に7月比◯倍）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 楽曲使用動画数・#HOTLIMIT 再生数（8/7〜8/10 で日次最大）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TikTok公式アカウント：開設72時間でのフォロワー数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9360" y="4846320"/>
            <a:ext cx="5330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 週間再生（TFT／MV）＝8/7週も1位維持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Billboard JAPAN Hot 100（8/12付・8/19付）の順位推移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TVer 見逃し配信 再生数（8/8〜8/10）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いま起きていること：燃料も追い風も揃っている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179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1,000万再生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FIRST TAKE 史上最速（約4日）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7/10公開「HOT LIMIT」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55848" y="137160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12131A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15179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約1.2億imp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38728" y="20848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7/9 X予告画像＋本人の返し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1投稿で到達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63056" y="137160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12131A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15179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2週連続1位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45936" y="20848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YouTubeチャート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週間627.1万再生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70264" y="137160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1213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53144" y="15179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ρ = 0.80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153144" y="20848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再生数と気温の相関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（2024/1〜2026/7・132週）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追い風の中身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Billboard JAPAN Hot 100 17位（7/15付）、動画再生指標は1位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TFT公開の翌日に音源を配信＝一本の動画で終わらせない設計が奏功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2026年はデビュー30周年。9月「FEST. INAZUMA」、ツアーも控える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気温相関 ρ=0.80 ＝ 8月前半は構造的に一番伸びる時期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TikTokでは既にダンス系・ネタ系・筋肉系のUGCが自然発生している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8/7 Mステには ORANGE RANGE も同日出演（「CURRY食べたい feat.ソイソース」）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5376672" cy="2084832"/>
          </a:xfrm>
          <a:prstGeom prst="roundRect">
            <a:avLst>
              <a:gd name="adj" fmla="val 3509"/>
            </a:avLst>
          </a:prstGeom>
          <a:solidFill>
            <a:srgbClr val="FCED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実証済みの「最強フォーマット」＝自虐で拾う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5204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「口パク疑惑」を指摘された際の本人の返し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「いや、怪しいな… 55才にもなって、あんな格好してる奴が、まともに歌えるわけない！」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4498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5万いいね超。否定せず乗る／自分でイジる が最も伸びる。今回の文言案はすべてこのトーンで統一する。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出典：THE FIRST TAKE／Billboard JAPAN／音楽ナタリー／オリコン／スポーツ報知 ほか（2026年7月時点）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CHECK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先に2点だけ、事実確認をさせてください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98448"/>
          </a:xfrm>
          <a:prstGeom prst="roundRect">
            <a:avLst>
              <a:gd name="adj" fmla="val 5634"/>
            </a:avLst>
          </a:prstGeom>
          <a:solidFill>
            <a:srgbClr val="FCEDEB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572768"/>
            <a:ext cx="384048" cy="384048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55448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資料内の「8/9 Mステ当日」は 8/7(金) が正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947672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元資料：3ページ目「8/9　Mステ当日（ORANGE RANGEとの集合写真）」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98448" y="21671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ミュージックステーションの放送は 8月7日(金) 21:00〜（テレビ朝日）。8/9 は日曜日。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「8/6 前日煽り」は 8/7 放送であれば整合するので、当日ページの日付のみ修正が必要。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1091672" cy="1298448"/>
          </a:xfrm>
          <a:prstGeom prst="roundRect">
            <a:avLst>
              <a:gd name="adj" fmla="val 5634"/>
            </a:avLst>
          </a:prstGeom>
          <a:solidFill>
            <a:srgbClr val="FCEDEB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" y="3054096"/>
            <a:ext cx="384048" cy="384048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298448" y="303580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Mステの情報解禁は 7/25 に完了済み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42900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共有内容：「Mステの情報解禁も今週の金曜(7/31)にある」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98448" y="36484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出演者ラインナップと歌唱曲「HOT LIMIT」は 7/25 に音楽ナタリー・OTOTOY 等で既報。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本資料では 7/31 を「メディア解禁」ではなく 本人・公式アカウントからの“改めての告知” として設計しています。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8/7(金) Mステ 出演ラインナップ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346704"/>
                <a:gridCol w="2194560"/>
                <a:gridCol w="3355848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アーティスト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歌唱曲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アーティスト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歌唱曲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T.M.Revolution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HOT LIMIT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SUPER EIGHT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Do it!!!!!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ORANGE RANGE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CURRY食べたい feat.ソイソース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TOMOO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大人になったら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あいみょん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愛を伝えたいだとか／スーパーガール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マカロニえんぴつ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終宵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ATEEZ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BAD (Japanese Ver.)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HY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AM11:00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26364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ORANGE RANGE が同日出演＝「カレーの被り物 × HOT LIMITスーツ」の集合写真企画は成立する。先方確認のみ必要。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CALENDAR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全体カレンダー：前3日／当日4波／後3日 ＋ お盆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00200"/>
                <a:gridCol w="802843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日付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主戦場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やること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7/30(木)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 / TikTok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TikTokネタ投稿への本人リアクション（「面白い場所がある」と気づかせる）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8261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7/31(金)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① Mステ改めて告知　② TFTグリーンバック素材 投下 ＝ 大喜利スタート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8/1(土)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UGC引用ポスト 3〜5本／お題の再提示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8/2(日)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 / IG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週末大喜利まとめ／IGストーリーズでUGCリポスト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8/3(月)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ミーム画像①（熱中症警戒アラート風）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8/4(火)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TikTok / X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インフルエンサー第2波を着火／ミーム画像②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8/5(水)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YouTube / X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TFT切り抜きShorts 開始（毎日1本）／ミーム画像③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8/6(木)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全SNS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前日煽り（衣装チラ見せ・カウントダウン・リハ風景）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8261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8/7(金)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全SNS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Mステ当日 4波 ＋ TikTok公式アカウント開設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8/8(土)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 / TikTok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反響の刈り取り／TVer見逃し配信へ誘導／楽屋裏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8/9(日)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大喜利ベスト投稿まとめ／御礼投稿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8/10(月)〜16(日)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全SNS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お盆＝第2の山。帰省・猛暑ネタで自走させる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3F1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55412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設計思想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554126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当日に全部を乗せない。当日一発は必ず翌日に落ちる。「前で温め → 当日は番組素材が主役 → 後で刈り取り → お盆で再燃」の4段構えにして、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本人の稼働も分散させる。本人が出すべきは「リアクション」と「一言」だけ。作り込みはチーム側で担保する。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日別アクションと投稿文言案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C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7/30(木) 〜 8/16(日)　／　文言はすべて「丁寧語 ＋ 自虐 ＋ ツッコミ待ち」で統一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7/30 THU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「面白い場所がある」と気づかせる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素材投下の前に、UGCが既に賑わっていることを本人のXで可視化する。素材だけ配っても人は動かない。「もう始まっている」と見せてから配る。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仕込み済みのTikTok投稿から2〜3本を本人がリアクション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拾う対象は意図的にばらけさせる：ダンス系／ドライヤー・扇風機のネタ系／ボディビルダー系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 に TikTok の URL を貼るとカード展開されず伸びない。動画をダウンロードして X にネイティブアップする（投稿者に許諾取得）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クレジットとTikTokリンクはリプライ欄に置く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翌日の素材投下の直前に置くことで「反応 → 素材配布」の流れを作る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5257800" cy="1152144"/>
          </a:xfrm>
          <a:prstGeom prst="roundRect">
            <a:avLst>
              <a:gd name="adj" fmla="val 634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294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この日の役割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本人が「見ている」ことを可視化する日。7/31 の素材投下を単なる告知ではなく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「みんなが遊んでいるから、道具も置いておきますね」という文脈に変える。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371600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投稿文言案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170078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1051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9712" y="179222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なんて事を…（笑）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ちゃんと風量は「強」でお願いします。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79806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9077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9077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288950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完敗です。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私のは28年かけて仕上げた“雰囲気”なので。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3895344"/>
            <a:ext cx="5586984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400507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005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9712" y="3986784"/>
            <a:ext cx="4654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皆さん上手すぎて、本家が一番あやしいまであります。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53328" y="4791456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490118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49011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39712" y="4882896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朝から検索していたら、とんでもないものばかり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出てきました。日本の夏、大丈夫でしょうか。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7/31 FRI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素材投下 ＝ 大喜利のゴングを鳴らす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「見る」から「使う」へ。TFTグリーンバック素材を配り、UGCの生産コストをゼロにする。この日が施策の実質的なスタート。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Mステ出演を本人アカウントから改めて告知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TFTグリーンバック（白抜き）素材を投下。X／YouTube／公式サイトに常設する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スレッド2投目でお題を明示する（「夏」「筋肉」「HOT LIMIT」）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素材の置き場所を一箇所にまとめる（DLページ or プロフィール固定ポスト）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利用規約（商用不可・クレジット表記など）を素材と同時に掲出する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5257800" cy="1152144"/>
          </a:xfrm>
          <a:prstGeom prst="roundRect">
            <a:avLst>
              <a:gd name="adj" fmla="val 634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294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お題を必ず添える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素材だけ置いても大喜利は始まらない。「夏」「筋肉」「HOT LIMIT」の3語を提示し、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「面白いものは全部見に行きます」と宣言することで、参加の期待値を作る。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371600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投稿文言案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170078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1051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9712" y="179222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素材、置いておきます。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あとはもう、皆さんにお任せします。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798064"/>
            <a:ext cx="5586984" cy="1170432"/>
          </a:xfrm>
          <a:prstGeom prst="roundRect">
            <a:avLst>
              <a:gd name="adj" fmla="val 4688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9077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9077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2889504"/>
            <a:ext cx="46542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【ご自由にどうぞ】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「HOT LIMIT」THE FIRST TAKE のグリーンバック素材です。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夏でも、筋肉でも、なんでも構いません。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皆さんの夏に、勝手にお邪魔します。　#HOTLIMIT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4096512"/>
            <a:ext cx="5586984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420624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2062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9712" y="4187952"/>
            <a:ext cx="4654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お題は「夏」「筋肉」「HOT LIMIT」。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面白いものは全部見に行きます。　#HOTLIMIT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53328" y="499262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510235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5102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告知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39712" y="508406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8月7日(金)のミュージックステーション、出させていただきます。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28年前の衣装で、地上波です。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ご家族でご覧ください（自己責任で）。　#HOTLIMIT #Mステ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906524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906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8/1 SAT − 8/2 SUN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週末＝大喜利のピークを作りにいく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土日は一般ユーザーの投稿量が最大化する。ここで「拾われる」体験を量産し、参加インセンティブを作って翌週まで持たせる。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引用ポストで1日3〜5本ピックアップ。質より頻度（拾われる確率が上がるほど投稿が増える）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IGストーリーズでもUGCをリポスト＝「本人が見ている感」の多面展開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拾う対象を意図的にばらけさせる：上手い人／面白い人／子ども／高齢者／会社員／海外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上手い人ばかり拾うと参加ハードルが上がりUGCが止まる。ここが最大の運用ポイント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土曜の夜に一度「お題」を再掲して、日曜の投稿を引き上げる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5257800" cy="1152144"/>
          </a:xfrm>
          <a:prstGeom prst="roundRect">
            <a:avLst>
              <a:gd name="adj" fmla="val 634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294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拾い方の設計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「本人が拾ってくれるかもしれない」が唯一の参加報酬。1件あたりのコメントは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一言でよい。件数を稼ぐことが、翌週の投稿量に直結する。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371600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投稿文言案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170078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1051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9712" y="179222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昨日から寄せていただいた使い方、全部見ました。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想像の斜め上ばかりで、正直こわいです。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798064"/>
            <a:ext cx="5586984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9077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9077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2889504"/>
            <a:ext cx="4654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これ、私が出る必要ありましたか？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3694176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380390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380390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9712" y="3785616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ご家族総出でありがとうございます。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お子さんの将来が少し心配です。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53328" y="4791456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490118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49011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再掲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39712" y="4882896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お題、もう一度置いておきます。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「夏」「筋肉」「HOT LIMIT」。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日曜の夜まで見ています。　#HOTLIMIT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906524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906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8/3 MON − 8/5 WED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ミーム画像で“中だるみ”を埋める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解禁（7/31）と当日（8/7）の間を、話題の燃料投下で埋める。1日1本のペースで、Mステ前を厚くする。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ミーム画像を1日1本（→ 詳細は「ミーム画像アイデア12案」ページ）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8/4：TikTokインフルエンサー第2波を着火。Mステに向けて再燃させる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8/5：TFT切り抜きShorts をYouTubeで開始（サビ頭15〜30秒／毎日1本）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1本は「本人が自分をイジる」自虐型、1本は「公式が真顔でやる」大喜利の余白型で交互に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当日〜翌日は番組素材が主役になるので、ミームはいったん止める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5257800" cy="1152144"/>
          </a:xfrm>
          <a:prstGeom prst="roundRect">
            <a:avLst>
              <a:gd name="adj" fmla="val 634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294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権利まわりの確認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AI・加工での本人肖像の扱いは事前にA&amp;R確認。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必ず「加工画像だと分かる作り」にして、誤情報として拡散されないようにする。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371600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投稿文言案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170078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1051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ミーム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9712" y="179222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（熱中症警戒アラート風の画像とともに）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私のせいではありません。たぶん。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79806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9077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9077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ミーム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288950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（気温との相関グラフとともに）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調べていただいたところ、相関係数0.80だそうです。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統計的に、否定できませんでした。　#HOTLIMIT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389534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400507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005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ミーム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9712" y="398678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（28年前 vs 2026 の比較画像とともに）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何も学んでいません。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53328" y="499262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510235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5102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連動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39712" y="508406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扇風機の前で撮っていただいた皆さん、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今週末はエアコンもお使いください。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9464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8/6 THU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前日煽り：「明日21時、テレビの前へ」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全プラットフォームで「明日21時」を刷り込む。焦らす見せ方（衣装の一部だけ）で当日の期待値を上げる。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X：明日告知 ＋ 衣装カット。時刻（21:00）とチャンネル（テレビ朝日）を必ず明記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TikTok：「明日のリハ」風の縦型動画。後ろ姿・シルエット・衣装の一部だけ＝焦らす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Instagram：ストーリーズにカウントダウンスタンプを設置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YouTube：コミュニティ投稿でアンケート「今夜見ますか？」＝通知が飛ぶ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翌日の TikTok公式アカウント開設を予告しておく（フォロー先を事前に作る）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5257800" cy="1152144"/>
          </a:xfrm>
          <a:prstGeom prst="roundRect">
            <a:avLst>
              <a:gd name="adj" fmla="val 634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294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素材の準備期限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衣装カット・TikTok初投稿3本・当日用テキストはこの日までに全て完成させる。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当日は撮って出しに専念できる状態にしておく。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371600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投稿文言案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1700784"/>
            <a:ext cx="5586984" cy="1170432"/>
          </a:xfrm>
          <a:prstGeom prst="roundRect">
            <a:avLst>
              <a:gd name="adj" fmla="val 4688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1051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9712" y="1792224"/>
            <a:ext cx="46542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明日です。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28年前の衣装、地上波、21時。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冷房を強めにしてお待ちください。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 #Mステ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999232"/>
            <a:ext cx="5586984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3108960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31089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3090672"/>
            <a:ext cx="4654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明日、日本の夏をもう一度刺激しに行きます。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 #Mステ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389534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400507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005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予告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9712" y="398678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明日、TikTokも始めます。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この歳で、何を始めているんでしょうか。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53328" y="499262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510235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510235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39712" y="508406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（後ろ姿のリハ動画とともに）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まだ見せられません。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というより、見せない方がいい気がしてきました。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714500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714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8/7 FRI ｜ Mステ当日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当日は4波で撃つ ＋ TikTok公式アカウント開設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4754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時刻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媒体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内容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07:00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「本日、刺激します。」＋ 衣装カット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8261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12:00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TikTok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公式アカウント開設・初投稿。同時にX／IGで開設告知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17:00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IG / TikTok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楽屋入り・リハ風景（ストーリーズ＋縦型）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20:50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「そろそろです」＋ テレビの前へ誘導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OA中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出番直前「まもなくです」／歌唱直後「ありがとうございました」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D8261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21:30〜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 / IG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ORANGE RANGEとの集合写真（カレー×HOT LIMITスーツ）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23:00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X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番組の反響 ＋ UGCまとめの引用ポスト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00:00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TikTok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当日ダイジェスト（縦型）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371600"/>
            <a:ext cx="4233672" cy="2377440"/>
          </a:xfrm>
          <a:prstGeom prst="roundRect">
            <a:avLst>
              <a:gd name="adj" fmla="val 3077"/>
            </a:avLst>
          </a:prstGeom>
          <a:solidFill>
            <a:srgbClr val="12131A"/>
          </a:solidFill>
          <a:ln/>
        </p:spPr>
      </p:sp>
      <p:sp>
        <p:nvSpPr>
          <p:cNvPr id="7" name="Text 4"/>
          <p:cNvSpPr/>
          <p:nvPr/>
        </p:nvSpPr>
        <p:spPr>
          <a:xfrm>
            <a:off x="7626096" y="15179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TikTok公式アカウント 初投稿の候補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26096" y="18105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C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開設72時間が勝負。初日3本、以降1日1〜2本を2週間。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26096" y="2148840"/>
            <a:ext cx="256032" cy="256032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0" name="Text 7"/>
          <p:cNvSpPr/>
          <p:nvPr/>
        </p:nvSpPr>
        <p:spPr>
          <a:xfrm>
            <a:off x="7626096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73568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本人が自分のUGCを見るリアクション動画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73568" y="23682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2B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最優先。既にUGCがある強みをそのまま使える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626096" y="2679192"/>
            <a:ext cx="256032" cy="256032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4" name="Text 11"/>
          <p:cNvSpPr/>
          <p:nvPr/>
        </p:nvSpPr>
        <p:spPr>
          <a:xfrm>
            <a:off x="7626096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73568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TFTの舞台裏／本番前の声出し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73568" y="2898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2B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TFTからの流入をそのまま受け止める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626096" y="3209544"/>
            <a:ext cx="256032" cy="256032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8" name="Text 15"/>
          <p:cNvSpPr/>
          <p:nvPr/>
        </p:nvSpPr>
        <p:spPr>
          <a:xfrm>
            <a:off x="7626096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73568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HOT LIMITスーツの着方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73568" y="34290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2B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ネタでありつつ実用系＝保存されやすい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70916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当日の運用ルール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" y="5010912"/>
            <a:ext cx="667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本人は「撮って出し」と「一言」に専念。編集物はチーム側で事前に用意する</a:t>
            </a:r>
            <a:endParaRPr lang="en-US" sz="1050" dirty="0"/>
          </a:p>
          <a:p>
            <a:pPr marL="177800" indent="-1778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OA中の投稿は歌唱の“直前”と“直後”の2本に絞る（連投は逆効果）</a:t>
            </a:r>
            <a:endParaRPr lang="en-US" sz="1050" dirty="0"/>
          </a:p>
          <a:p>
            <a:pPr marL="177800" indent="-1778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番組素材の二次利用範囲をテレビ朝日に事前確認（写真・映像の可否とタイミング）</a:t>
            </a:r>
            <a:endParaRPr lang="en-US" sz="1050" dirty="0"/>
          </a:p>
          <a:p>
            <a:pPr marL="177800" indent="-177800">
              <a:lnSpc>
                <a:spcPts val="15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ORANGE RANGE 集合写真はレーベル／マネジメントの事前合意を取っておく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06640" y="3858768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当日の文言案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406640" y="4169664"/>
            <a:ext cx="4233672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25" name="Shape 22"/>
          <p:cNvSpPr/>
          <p:nvPr/>
        </p:nvSpPr>
        <p:spPr>
          <a:xfrm>
            <a:off x="7552944" y="42793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6" name="Text 23"/>
          <p:cNvSpPr/>
          <p:nvPr/>
        </p:nvSpPr>
        <p:spPr>
          <a:xfrm>
            <a:off x="7552944" y="42793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直前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93024" y="4261104"/>
            <a:ext cx="3300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21時です。28年分、いきます。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 #Mステ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406640" y="5029200"/>
            <a:ext cx="4233672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29" name="Shape 26"/>
          <p:cNvSpPr/>
          <p:nvPr/>
        </p:nvSpPr>
        <p:spPr>
          <a:xfrm>
            <a:off x="7552944" y="513892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30" name="Text 27"/>
          <p:cNvSpPr/>
          <p:nvPr/>
        </p:nvSpPr>
        <p:spPr>
          <a:xfrm>
            <a:off x="7552944" y="513892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直後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193024" y="5120640"/>
            <a:ext cx="3300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今夜は日本の夏を刺激しすぎてしまいました。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カレーもいただきました。　#HOTLIMIT #Mステ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406640" y="5888736"/>
            <a:ext cx="4233672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33" name="Shape 30"/>
          <p:cNvSpPr/>
          <p:nvPr/>
        </p:nvSpPr>
        <p:spPr>
          <a:xfrm>
            <a:off x="7552944" y="599846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34" name="Text 31"/>
          <p:cNvSpPr/>
          <p:nvPr/>
        </p:nvSpPr>
        <p:spPr>
          <a:xfrm>
            <a:off x="7552944" y="5998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締め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193024" y="5980176"/>
            <a:ext cx="3300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明日の気温は、私のせいでは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ありません。　#HOTLIMIT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2002536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8/8 SAT − 8/10 MON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刈り取り：放送直後の検索需要を取り切る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放送で生まれた関心が最も高い72時間。新規で知った層を「見る人」から「フォローする人」に変換する。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TVer見逃し配信へ誘導（放送直後の検索需要をここで受け止める）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「#HOTLIMIT 大喜利」ベスト投稿まとめ（X スレッド／IGカルーセル）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TikTok公式：Mステ楽屋裏／ORANGE RANGEとの絡み／本番前の様子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YouTube：プレイリスト「HOT LIMIT 2026」を整備（TFT／原曲MV／ライブ／ダンス）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本人から御礼投稿。ここで次（30周年・ツアー・FEST. INAZUMA）を軽く匂わせる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5257800" cy="1152144"/>
          </a:xfrm>
          <a:prstGeom prst="roundRect">
            <a:avLst>
              <a:gd name="adj" fmla="val 634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294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新規フォロワーの受け皿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Mステで初めて知った層が最初に見るのはプロフィールと固定ポスト。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固定ポストをグリーンバック素材（＝参加導線）に差し替えておく。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371600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投稿文言案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170078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1051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御礼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9712" y="179222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ご覧いただきありがとうございました。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28年経っても、まだ怒られない格好で歌えています。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 #Mステ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798064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90779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9077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誘導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2889504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見逃した方へ。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TVerにございます。心の準備をしてからどうぞ。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 #Mステ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3895344"/>
            <a:ext cx="5586984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400507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0050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9712" y="3986784"/>
            <a:ext cx="4654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この一週間の #HOTLIMIT、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個人的なベストを貼っておきます。（スレッド）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2098548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20985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8/11 TUE − 8/16 SUN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お盆＝第2の山。ここを捨てない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257800" cy="969264"/>
          </a:xfrm>
          <a:prstGeom prst="roundRect">
            <a:avLst>
              <a:gd name="adj" fmla="val 7547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気温相関 ρ=0.80。お盆は「帰省 × 猛暑 × 家族団らん」で世代を超えて刺さる、放送日と同等の追い風がある窓。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「実家で HOT LIMIT を流す」ネタの誘導＝家族巻き込み型UGCへ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8/15前後の猛暑ピークに合わせた自虐投稿（「すいません」フォーマットの再利用）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夏の終わりに向けた「今年の #HOTLIMIT ベスト」総集編（X／IGカルーセル／YouTube）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TikTok公式は1日1本を維持。ここで止めるとアカウントが死ぬ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次の一手の予告：30周年／ツアー／FEST. INAZUMA（9月）へ接続する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5175504"/>
            <a:ext cx="5257800" cy="1152144"/>
          </a:xfrm>
          <a:prstGeom prst="roundRect">
            <a:avLst>
              <a:gd name="adj" fmla="val 6349"/>
            </a:avLst>
          </a:prstGeom>
          <a:solidFill>
            <a:srgbClr val="FCEDEB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294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ORANGE RANGE 事例からの学び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55504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「地上波はゴールではなく中継点」。紅白の前に何度も踊り場を作ったのが効いた。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Mステ後に施策を畳まず、次の露出まで熱を継続させる。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371600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投稿文言案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53328" y="1700784"/>
            <a:ext cx="5586984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1051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8105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39712" y="1792224"/>
            <a:ext cx="4654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帰省先で流すのは、各ご家庭の判断でお願いします。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596896"/>
            <a:ext cx="5586984" cy="969264"/>
          </a:xfrm>
          <a:prstGeom prst="roundRect">
            <a:avLst>
              <a:gd name="adj" fmla="val 5660"/>
            </a:avLst>
          </a:prstGeom>
          <a:solidFill>
            <a:srgbClr val="F4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270662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27066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猛暑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39712" y="2688336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今日も暑いですね。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そろそろ本気で申し訳なくなってきました。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#HOTLIMIT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3694176"/>
            <a:ext cx="5586984" cy="768096"/>
          </a:xfrm>
          <a:prstGeom prst="roundRect">
            <a:avLst>
              <a:gd name="adj" fmla="val 7143"/>
            </a:avLst>
          </a:prstGeom>
          <a:solidFill>
            <a:srgbClr val="F4F3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3803904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D8261C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380390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総集編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9712" y="3785616"/>
            <a:ext cx="4654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この夏の #HOTLIMIT、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全部見ました。来年もやりましょう。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プラットフォーム別 施策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CC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X＝拡散　／　TikTok＝UGC生産　／　YouTube＝受け皿と検索　／　Instagram＝世界観と“見ている感”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X：拡散の主戦場。本人アカウントが全ての起点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61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役割｜UGCを増幅し、話題を「事件」にする。本人の一言が最大の武器。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運用ルール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投稿頻度：平常1〜2/日 → 8/5〜8/9 は 4〜6/日 に引き上げる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動画は必ずネイティブアップ。TikTok／YouTubeのURL貼りは表示が伸びない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リンクはリプライ欄に置く（本ポストのリーチを守る）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引用ポストは「短い一言 ＋ #HOTLIMIT」が最も回る（実績：「出ました♪」）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大喜利はお題を明示して投稿ハードルを下げる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本人ポストは2〜3行＋ハッシュタグ。長文にしない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タグは #HOTLIMIT に統一（表記ゆれは集計も拡散も分断する）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45352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打ち手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45352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TFTグリーンバック素材をプロフィール固定ポストに常設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ネガ・イジりは否定せず乗る（口パク騒動のフォーマット化）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Mステ直後にスペース（音声）を10分だけ＝深夜の余韻を拾う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ミーム画像を1日1本（8/3〜8/6）。当日〜翌日は番組素材に譲る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他アーティスト公式（ORANGE RANGE／Mステ／THE FIRST TAKE）へのメンション設計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告知はスタッフアカウント、リアクションは本人アカウントで役割分担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リプライ欄の面白いコメントも拾う（「いいね」も可視化される）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CEDE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5541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最重要ポイント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5541264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TikTokのUGCをXへ転載する導線を必ず用意する。TikTokの中だけでは「事件」にならない。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Xで話題化 → メディアが拾う → さらにTikTokへ、という循環を回すのが今回の勝ち筋。転載時は投稿者の許諾を必ず取得する。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850392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TikTok：UGCの主戦場。8/7 に公式アカウント開設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61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役割｜UGCを生産し続ける工場。開設72時間の初速がその後の伸びを決める。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コンテンツ設計（優先順）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本人のUGCリアクション動画 ← 最優先。既存UGCをそのまま資産化できる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衣装の着脱・裏側（生活感 × 非日常のギャップ）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TFTの舞台裏／本番前の声出し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「本家やってみた」＝インフルエンサー振付を本人が踊る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ORANGE RANGE とのコラボ（Mステ楽屋／相互出演）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⑥ コメント返し動画＝TikTok内で最も低コストかつ継続しやすい型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⑦ 「28年前と同じ衣装が入るか」検証系＝数字が取れる企画もの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45352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仕込みと設計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45352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インフルエンサー第2波を 8/4〜8/6 に着火。4象限で配分：ダンス系／ネタ系（ドライヤー・扇風機）／筋肉系（ボディビルダー）／親子・主婦系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楽曲ページの整備：TFT音源と原曲の両方にUGCが集まる。サムネと楽曲名表記を確認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デュエット／ステッチ前提で撮る：正面・上半身固定・無音区間あり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Mステ翌日に TikTok LIVE を短時間（UGCを一緒に見る配信）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タグ：#HOTLIMIT #TMRevolution #西川貴教 ＋ 季節タグ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CEDE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5541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開設初日の設計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5541264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初日は3本。1本目は必ず「本人がUGCを見るリアクション」にする。ゼロから作るのではなく、既に存在する盛り上がりに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本人が乗る形が最も回り、かつ制作コストも最も低い。以降は1日1〜2本を最低2週間、お盆明けまで止めない。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9464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YouTube：受け皿と検索。放送後の流入を取り切る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61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役割｜TFTで生まれた関心と、Mステで生まれた検索需要を受け止める場所。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コンテンツ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TFT切り抜き Shorts を 8/5〜8/10 で毎日1本（サビ頭15〜30秒）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グリーンバック素材をYouTubeにも常設（素材動画としてアップ）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プレイリスト「HOT LIMIT 2026」＝TFT／原曲MV／ライブ映像／ダンス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Mステ後にプレミア公開：MVリマスター or 「HOT LIMIT 28年の変遷」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コミュニティ投稿で告知・アンケート（登録者に通知が飛ぶ）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UGCまとめ動画（許諾取得のうえ）＝参加者がさらに増える循環を作る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ライブ映像のアーカイブを整理して回遊先を増やす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45352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検索・連携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45352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タイトル・サムネに「Mステ」「THE FIRST TAKE」「2026」を入れて検索流入を取る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「HOT LIMIT 歌詞」「HOT LIMIT 衣装」など周辺検索も概要欄で拾う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FIRST TAKE 公式チャンネルとの連携：Mステ当日の再ポストを打診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終了画面・カード設定を全動画で見直す（TFT → MV → プレイリスト）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Shortsの冒頭1秒に「28年前の衣装」の画を置く＝離脱を止める最短手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8/7 当日はコミュニティ投稿を朝・直前の2回（通知がテレビ誘導に効く）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CEDE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5541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既に週間1位である前提で組む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5541264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YouTubeチャートで2週連続1位（週間627.1万再生）を取っている。ここは「伸ばす」より「落とさない」設計が正解。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Shortsで毎日접点を作り、Mステ後の検索流入をプレイリストに流し込んで、8/7週も1位を維持する。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138428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38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Instagram：世界観と「本人が見ている感」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2131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61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役割｜きれいめの世界観を担保しつつ、ストーリーズでUGCを毎日拾い続ける。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フィード／リール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リール：TikTokと同素材でよいが、IGは“きれいめ”＋テロップ多めに調整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リールテンプレート公開：グリーンバック素材を使ったテンプレを配布＝IG側のUGC導線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カルーセル：28年前 vs 2026 の比較／ミーム画像まとめ／大喜利ベスト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コラボ投稿（共同投稿者）：ORANGE RANGE公式／Mステ公式／THE FIRST TAKE公式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リールの音源は原曲とTFT版の両方を使い分ける（発見面での露出を二重化）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キャプションは1行目で完結させる。IGは「続きを読む」で離脱する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45352" y="2057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ストーリーズ（当日の主役）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45352" y="2359152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当日実況：朝 → 楽屋 → 直前 → 直後 の4本立て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カウントダウンスタンプ（8/6設置 → 8/7 21:00 に着火）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アンケート／クイズ：「今夜見ますか？」「何年前の衣装でしょう？」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メンション拾い：毎日UGCをリポスト。ハイライトに「#HOTLIMIT」を常設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リンクスタンプでTVer／YouTubeへ誘導（8/8〜）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質問ボックスで「HOT LIMITの思い出」を募集＝翌日の投稿ネタが溜まる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CEDE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5541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IGの役割は“量”ではなく“継続”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63240" y="5541264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XとTikTokが瞬間最大風速を担うのに対し、IGは毎日UGCを拾い続けて「本人が全部見ている」という信頼を積む場所。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ストーリーズのリポストは1日3〜5件を8/1から8/16まで途切れさせないこと。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IDEA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X ミーム画像アイデア 12案（過去画像 × 加工）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コツは「誰もが知っている見慣れた形式」に落とすこと。フォーマットが既知だから、説明なしで一瞬で伝わる。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CED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0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10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熱中症警戒アラート風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0939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「本日の暑さ指数：HOT LIMIT」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4F3F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10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2896" y="1810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全国天気予報テロップ風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98848" y="20939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「明日も全国的にHOT LIMITでしょう」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CED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8105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50224" y="18105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相関グラフ（実データ）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66176" y="209397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ρ=0.80 をネタに「統計的に否定できませんでした」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4F3F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620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2862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駅の運行情報風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31455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「◯◯線 遅延（原因：HOT LIMIT）」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15968" y="274320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CEDEB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28620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82896" y="2862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組立説明図風（IKEA風）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98848" y="31455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HOT LIMITスーツの装着手順 ピクトグラム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83296" y="274320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4F3F1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28620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50224" y="2862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人体解剖図／筋肉図鑑風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66176" y="31455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「HOT LIMIT筋（1998–2026）」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CEDEB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9136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15568" y="3913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昆虫図鑑風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41970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「HOT LIMITの妖精（滋賀県固有種）」※既存ミーム活用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15968" y="379476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4F3F1"/>
          </a:solidFill>
          <a:ln/>
        </p:spPr>
      </p:sp>
      <p:sp>
        <p:nvSpPr>
          <p:cNvPr id="35" name="Text 33"/>
          <p:cNvSpPr/>
          <p:nvPr/>
        </p:nvSpPr>
        <p:spPr>
          <a:xfrm>
            <a:off x="4498848" y="39136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82896" y="3913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家電の省エネラベル風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498848" y="41970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「消費電力★★★★★／発熱量：規格外」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83296" y="379476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CEDEB"/>
          </a:solidFill>
          <a:ln/>
        </p:spPr>
      </p:sp>
      <p:sp>
        <p:nvSpPr>
          <p:cNvPr id="39" name="Text 37"/>
          <p:cNvSpPr/>
          <p:nvPr/>
        </p:nvSpPr>
        <p:spPr>
          <a:xfrm>
            <a:off x="8266176" y="39136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50224" y="3913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卒業アルバム／学級新聞風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66176" y="41970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28年前 vs 2026「変わらなすぎ選手権」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484632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4F3F1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9651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5568" y="4965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帰省ラッシュ予測図風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31520" y="52486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「上り：混雑／下り：混雑／全身：露出」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15968" y="484632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CEDEB"/>
          </a:solidFill>
          <a:ln/>
        </p:spPr>
      </p:sp>
      <p:sp>
        <p:nvSpPr>
          <p:cNvPr id="47" name="Text 45"/>
          <p:cNvSpPr/>
          <p:nvPr/>
        </p:nvSpPr>
        <p:spPr>
          <a:xfrm>
            <a:off x="4498848" y="49651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82896" y="4965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給食の献立表風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498848" y="52486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ORANGE RANGE と絡めて「本日の給食：カレー、HOT LIMIT」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083296" y="4846320"/>
            <a:ext cx="3557016" cy="914400"/>
          </a:xfrm>
          <a:prstGeom prst="roundRect">
            <a:avLst>
              <a:gd name="adj" fmla="val 7000"/>
            </a:avLst>
          </a:prstGeom>
          <a:solidFill>
            <a:srgbClr val="F4F3F1"/>
          </a:solidFill>
          <a:ln/>
        </p:spPr>
      </p:sp>
      <p:sp>
        <p:nvSpPr>
          <p:cNvPr id="51" name="Text 49"/>
          <p:cNvSpPr/>
          <p:nvPr/>
        </p:nvSpPr>
        <p:spPr>
          <a:xfrm>
            <a:off x="8266176" y="49651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50224" y="4965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間違い探し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266176" y="52486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Mステ出演者ラインナップ画像を使って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2131A"/>
          </a:solidFill>
          <a:ln/>
        </p:spPr>
      </p:sp>
      <p:sp>
        <p:nvSpPr>
          <p:cNvPr id="55" name="Text 53"/>
          <p:cNvSpPr/>
          <p:nvPr/>
        </p:nvSpPr>
        <p:spPr>
          <a:xfrm>
            <a:off x="786384" y="5989320"/>
            <a:ext cx="10616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出し方｜8/3〜8/6 に1日1本 → 当日〜翌日は番組素材が主役なので停止 → 8/12以降にお盆版を再開。AI加工は必ずA&amp;R確認のうえ「加工画像と分かる作り」で。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参考事例：ORANGE RANGE「ナツい夏★プロジェクト」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ベテラン → TikTok起点のリバイバル → 地上波再登場。今回と同型のフォーマットで、しかも 8/7 Mステに同日出演している。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5371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時期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出来事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2025/5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ソニーミュージックと再契約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2025/7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「ナツい夏★プロジェクト」始動 ＝ 単発ではなくプロジェクト名を付けた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2025/7/2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「イケナイ太陽」令和版MV公開（お笑いコンビ・マユリカ出演／平成あるある72個）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2025年夏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TikTokで「おしゃれ番長 feat.ソイソース」がバイラル。インフルエンサー・著名人がダンス投稿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2025年夏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Billboard JAPAN Hot 100 動画再生指標で2週連続1位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2025/12/31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紅白歌合戦 19年ぶり出場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2026/7/13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「CURRY食べたい feat.ソイソース」リリース（「SUSHI食べたい」の続編＝シリーズ化）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2026/8/7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ミュージックステーション出演（＝T.M.Revolution と同日）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2131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この事例の本質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53218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5D7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紅白（＝ゴールに見える露出）の前に、令和版MV・TikTokバイラル・チャート実績と、何度も「踊り場」を作っていた。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5D7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一発の露出で終わらせず、次の露出まで熱を渡し続ける設計になっていたことが、19年ぶりの紅白につながっている。</a:t>
            </a:r>
            <a:endParaRPr lang="en-US" sz="10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D5D7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T.M.Revolution 側も Mステを終着点にせず、30周年／ツアー／FEST. INAZUMA（9月）へ熱を渡す設計にする。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042416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TAKEAWAY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事例からの転用ポイント 6つ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31536" cy="1463040"/>
          </a:xfrm>
          <a:prstGeom prst="roundRect">
            <a:avLst>
              <a:gd name="adj" fmla="val 5000"/>
            </a:avLst>
          </a:prstGeom>
          <a:solidFill>
            <a:srgbClr val="F4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554480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43584" y="153619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「懐かしさ」ではなく「新作」として扱う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8096" y="19933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令和版MV ↔ THE FIRST TAKE版。過去曲を今の形式で作り直したから、懐メロ枠に入らずに現役の曲として受け取られた。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08776" y="1371600"/>
            <a:ext cx="5431536" cy="1463040"/>
          </a:xfrm>
          <a:prstGeom prst="roundRect">
            <a:avLst>
              <a:gd name="adj" fmla="val 5000"/>
            </a:avLst>
          </a:prstGeom>
          <a:solidFill>
            <a:srgbClr val="F4F3F1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1554480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153619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プロジェクト名を付ける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28232" y="19933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「ナツい夏★プロジェクト」は単発施策を連続体に変える装置。T.M.R.側も統一タグ／名前（例：#HOTLIMIT2026）を検討する価値がある。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99232"/>
            <a:ext cx="5431536" cy="1463040"/>
          </a:xfrm>
          <a:prstGeom prst="roundRect">
            <a:avLst>
              <a:gd name="adj" fmla="val 5000"/>
            </a:avLst>
          </a:prstGeom>
          <a:solidFill>
            <a:srgbClr val="F4F3F1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096" y="3182112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43584" y="316382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お笑い・インフルエンサーを「翻訳者」に置く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" y="362102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マユリカがファン外への橋渡しになった。今回のドライヤーネタ・ボディビルダー投稿も同じ役割。ファンではない層の入口を必ず作る。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2999232"/>
            <a:ext cx="5431536" cy="1463040"/>
          </a:xfrm>
          <a:prstGeom prst="roundRect">
            <a:avLst>
              <a:gd name="adj" fmla="val 5000"/>
            </a:avLst>
          </a:prstGeom>
          <a:solidFill>
            <a:srgbClr val="F4F3F1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8232" y="3182112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316382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媒体ごとの役割を割り切る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28232" y="362102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UGCの生産はTikTok、拡散と話題化はX、受け皿と検索はYouTube、継続の信頼はInstagram。全媒体で同じことをしない。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26864"/>
            <a:ext cx="5431536" cy="1463040"/>
          </a:xfrm>
          <a:prstGeom prst="roundRect">
            <a:avLst>
              <a:gd name="adj" fmla="val 5000"/>
            </a:avLst>
          </a:prstGeom>
          <a:solidFill>
            <a:srgbClr val="F4F3F1"/>
          </a:solidFill>
          <a:ln/>
        </p:spPr>
      </p:sp>
      <p:sp>
        <p:nvSpPr>
          <p:cNvPr id="26" name="Shape 24"/>
          <p:cNvSpPr/>
          <p:nvPr/>
        </p:nvSpPr>
        <p:spPr>
          <a:xfrm>
            <a:off x="768096" y="4809744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43584" y="479145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地上波はゴールでなく中継点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68096" y="5248656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Mステの翌日に施策を畳まない。8/8〜8/10 の刈り取りと、お盆（8/11〜16）の第2の山までを一つの設計に含める。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4626864"/>
            <a:ext cx="5431536" cy="1463040"/>
          </a:xfrm>
          <a:prstGeom prst="roundRect">
            <a:avLst>
              <a:gd name="adj" fmla="val 5000"/>
            </a:avLst>
          </a:prstGeom>
          <a:solidFill>
            <a:srgbClr val="F4F3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428232" y="4809744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479145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次の一手を用意しておく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28232" y="5248656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SUSHI → CURRY のシリーズ化。T.M.R.は30周年・ツアー・FEST. INAZUMA（9月）が控える。Mステ後にそこへ接続する。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"/>
            <a:ext cx="1138428" cy="256032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138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必要素材リストと、事前に潰しておく確認事項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素材リスト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5321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9202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素材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用途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期限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TFT グリーンバック（白抜き）映像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UGCの燃料。全SNSに常設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7/31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過去の西川さん画像（高解像）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ミーム画像の加工用。A&amp;Rから受領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8/1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ミーム画像 3〜6本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8/3〜8/6 に1日1本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8/2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TFT切り抜き Shorts 6本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8/5〜8/10 に毎日1本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8/4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衣装カット（当日・前日用）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8/6 前日煽り／8/7 朝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8/6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TikTok公式アカウント 初投稿3本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8/7 開設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8/6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Mステ楽屋・ORANGE RANGE集合写真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当日OA後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252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8/7（番組側と要調整）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82512" y="13258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26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確認事項（着手前に潰す）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82512" y="16642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03136" y="162763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リアクション対象UGCの投稿者許諾（X転載する場合は必須）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82512" y="21488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03136" y="211226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ミーム画像のAI加工について、本人肖像の扱いをA&amp;R確認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82512" y="263347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03136" y="2596896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加工画像だと分かる作りにする（特に警報・天気予報フォーマット）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82512" y="31181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03136" y="308152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Mステ番組素材の二次利用範囲をテレビ朝日に確認（写真・映像の可否とタイミング）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82512" y="36027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03136" y="3566160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ORANGE RANGE 集合写真の先方確認（レーベル／マネジメント）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82512" y="40873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03136" y="405079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グリーンバック素材の利用規約（商用不可・クレジット表記）を明文化して同時掲出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82512" y="45720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03136" y="453542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FIRST TAKE 公式チャンネルとの連携可否を打診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82512" y="5056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826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03136" y="5020056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3252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TikTok公式アカウント名・アイコン・プロフィール文の確定（8/6まで）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最後に、外してはいけない5点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23252F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792224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67335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当日に全部を乗せない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前3日／当日4波／後3日で分散する。当日一発は必ず翌日に落ちる。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23252F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724912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60604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本人の稼働を守る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25880" y="290779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本人が出すべきは「リアクション」と「一言」だけ。作り込みはチーム側で担保する。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232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657600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35387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拾う対象を偏らせない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25880" y="38404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上手い人ばかり拾うと参加ハードルが上がり、UGCが止まる。子ども・高齢者・会社員・海外まで散らす。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370832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23252F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4590288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447141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イジりには乗る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25880" y="47731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否定・訂正は熱量を殺す。口パク騒動の成功事例をそのままフォーマットとして使う。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1672" cy="804672"/>
          </a:xfrm>
          <a:prstGeom prst="roundRect">
            <a:avLst>
              <a:gd name="adj" fmla="val 7955"/>
            </a:avLst>
          </a:prstGeom>
          <a:solidFill>
            <a:srgbClr val="23252F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5522976"/>
            <a:ext cx="365760" cy="365760"/>
          </a:xfrm>
          <a:prstGeom prst="ellipse">
            <a:avLst/>
          </a:prstGeom>
          <a:solidFill>
            <a:srgbClr val="D8261C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540410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10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お盆を捨てない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25880" y="570585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C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気温相関 ρ=0.80。8/15前後は放送日と同等の追い風がある。ここで畳むのが一番もったいない。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出典：音楽ナタリー／OTOTOY／Billboard JAPAN／THE FIRST TAKE／オリコン／スポーツ報知／女性自身（いずれも2026年7月時点の公開情報）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T.M.Revolution HOT LIMIT Mステ連動 SNS施策プラン</dc:title>
  <dc:subject>PptxGenJS Presentation</dc:subject>
  <dc:creator>SNS Project Team</dc:creator>
  <cp:lastModifiedBy>SNS Project Team</cp:lastModifiedBy>
  <cp:revision>1</cp:revision>
  <dcterms:created xsi:type="dcterms:W3CDTF">2026-07-30T15:14:10Z</dcterms:created>
  <dcterms:modified xsi:type="dcterms:W3CDTF">2026-07-30T15:14:10Z</dcterms:modified>
</cp:coreProperties>
</file>